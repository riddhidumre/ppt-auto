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ter"/>
      <p:regular r:id="rId17"/>
    </p:embeddedFont>
    <p:embeddedFont>
      <p:font typeface="Bebas Neue"/>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xmlns="" Id="rId17" Type="http://schemas.openxmlformats.org/officeDocument/2006/relationships/font" Target="fonts/rId17.fntdata"/><Relationship xmlns="" Id="rId18" Type="http://schemas.openxmlformats.org/officeDocument/2006/relationships/font" Target="fonts/rId1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slideLayout" Target="../slideLayouts/slideLayout1.xml"/><Relationship Id="rId2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bombaydc.com" TargetMode="Externa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285750" y="285750"/>
            <a:ext cx="8572500" cy="190500"/>
          </a:xfrm>
          <a:prstGeom prst="rect">
            <a:avLst/>
          </a:prstGeom>
          <a:noFill/>
          <a:ln/>
        </p:spPr>
      </p:sp>
      <p:pic>
        <p:nvPicPr>
          <p:cNvPr id="4" name="Image 1" descr="preencoded.png">    </p:cNvPr>
          <p:cNvPicPr>
            <a:picLocks noChangeAspect="1"/>
          </p:cNvPicPr>
          <p:nvPr/>
        </p:nvPicPr>
        <p:blipFill>
          <a:blip r:embed="rId2"/>
          <a:srcRect l="0" r="0" t="0" b="0"/>
          <a:stretch/>
        </p:blipFill>
        <p:spPr>
          <a:xfrm>
            <a:off x="285750" y="285750"/>
            <a:ext cx="1731309" cy="190500"/>
          </a:xfrm>
          <a:prstGeom prst="rect">
            <a:avLst/>
          </a:prstGeom>
        </p:spPr>
      </p:pic>
      <p:sp>
        <p:nvSpPr>
          <p:cNvPr id="5" name="Shape 1"/>
          <p:cNvSpPr/>
          <p:nvPr/>
        </p:nvSpPr>
        <p:spPr>
          <a:xfrm>
            <a:off x="5767388" y="3619500"/>
            <a:ext cx="3376613" cy="1524000"/>
          </a:xfrm>
          <a:prstGeom prst="rect">
            <a:avLst/>
          </a:prstGeom>
          <a:solidFill>
            <a:srgbClr val="000000">
              <a:alpha val="0"/>
            </a:srgbClr>
          </a:solidFill>
          <a:ln/>
        </p:spPr>
      </p:sp>
      <p:sp>
        <p:nvSpPr>
          <p:cNvPr id="6" name="Shape 2"/>
          <p:cNvSpPr/>
          <p:nvPr/>
        </p:nvSpPr>
        <p:spPr>
          <a:xfrm>
            <a:off x="7158038" y="3905250"/>
            <a:ext cx="1700213" cy="852488"/>
          </a:xfrm>
          <a:prstGeom prst="rect">
            <a:avLst/>
          </a:prstGeom>
          <a:noFill/>
          <a:ln/>
        </p:spPr>
      </p:sp>
      <p:sp>
        <p:nvSpPr>
          <p:cNvPr id="7" name="Shape 3"/>
          <p:cNvSpPr/>
          <p:nvPr/>
        </p:nvSpPr>
        <p:spPr>
          <a:xfrm>
            <a:off x="7158038" y="3905250"/>
            <a:ext cx="1700213" cy="404813"/>
          </a:xfrm>
          <a:prstGeom prst="rect">
            <a:avLst/>
          </a:prstGeom>
          <a:noFill/>
          <a:ln/>
        </p:spPr>
      </p:sp>
      <p:sp>
        <p:nvSpPr>
          <p:cNvPr id="8" name="Text 4"/>
          <p:cNvSpPr/>
          <p:nvPr/>
        </p:nvSpPr>
        <p:spPr>
          <a:xfrm>
            <a:off x="7158038" y="3905250"/>
            <a:ext cx="1700213" cy="228600"/>
          </a:xfrm>
          <a:prstGeom prst="rect">
            <a:avLst/>
          </a:prstGeom>
          <a:noFill/>
          <a:ln/>
        </p:spPr>
        <p:txBody>
          <a:bodyPr wrap="square" lIns="0" tIns="0" rIns="0" bIns="0" rtlCol="0" anchor="t"/>
          <a:lstStyle/>
          <a:p>
            <a:pPr algn="l" indent="0" marL="0">
              <a:lnSpc>
                <a:spcPts val="1725"/>
              </a:lnSpc>
              <a:buNone/>
            </a:pPr>
            <a:r>
              <a:rPr lang="en-US" sz="1425" spc="-71" kern="0" dirty="0">
                <a:solidFill>
                  <a:srgbClr val="FFFFFF">
                    <a:alpha val="99000"/>
                  </a:srgbClr>
                </a:solidFill>
                <a:latin typeface="Inter" pitchFamily="34" charset="0"/>
                <a:ea typeface="Inter" pitchFamily="34" charset="-122"/>
                <a:cs typeface="Inter" pitchFamily="34" charset="-120"/>
              </a:rPr>
              <a:t>Siddesh Pednekar</a:t>
            </a:r>
            <a:endParaRPr lang="en-US" sz="1425" dirty="0"/>
          </a:p>
        </p:txBody>
      </p:sp>
      <p:sp>
        <p:nvSpPr>
          <p:cNvPr id="9" name="Text 5"/>
          <p:cNvSpPr/>
          <p:nvPr/>
        </p:nvSpPr>
        <p:spPr>
          <a:xfrm>
            <a:off x="7158038" y="4171950"/>
            <a:ext cx="1700213"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Partner &amp; COO</a:t>
            </a:r>
            <a:endParaRPr lang="en-US" sz="855" dirty="0"/>
          </a:p>
        </p:txBody>
      </p:sp>
      <p:sp>
        <p:nvSpPr>
          <p:cNvPr id="10" name="Shape 6"/>
          <p:cNvSpPr/>
          <p:nvPr/>
        </p:nvSpPr>
        <p:spPr>
          <a:xfrm>
            <a:off x="7158038" y="4462463"/>
            <a:ext cx="1700213" cy="295275"/>
          </a:xfrm>
          <a:prstGeom prst="rect">
            <a:avLst/>
          </a:prstGeom>
          <a:noFill/>
          <a:ln/>
        </p:spPr>
      </p:sp>
      <p:sp>
        <p:nvSpPr>
          <p:cNvPr id="11" name="Text 7"/>
          <p:cNvSpPr/>
          <p:nvPr/>
        </p:nvSpPr>
        <p:spPr>
          <a:xfrm>
            <a:off x="7158038" y="4462463"/>
            <a:ext cx="904875" cy="114300"/>
          </a:xfrm>
          <a:prstGeom prst="rect">
            <a:avLst/>
          </a:prstGeom>
          <a:noFill/>
          <a:ln/>
        </p:spPr>
        <p:txBody>
          <a:bodyPr wrap="square" lIns="0" tIns="0" rIns="0" bIns="0" rtlCol="0" anchor="t"/>
          <a:lstStyle/>
          <a:p>
            <a:pPr algn="l" indent="0" marL="0">
              <a:lnSpc>
                <a:spcPts val="862"/>
              </a:lnSpc>
              <a:buNone/>
            </a:pPr>
            <a:r>
              <a:rPr lang="en-US" sz="713" dirty="0">
                <a:solidFill>
                  <a:srgbClr val="FFFFFF">
                    <a:alpha val="99000"/>
                  </a:srgbClr>
                </a:solidFill>
                <a:latin typeface="Inter" pitchFamily="34" charset="0"/>
                <a:ea typeface="Inter" pitchFamily="34" charset="-122"/>
                <a:cs typeface="Inter" pitchFamily="34" charset="-120"/>
              </a:rPr>
              <a:t>sid@bombaydc.com</a:t>
            </a:r>
            <a:endParaRPr lang="en-US" sz="713" dirty="0"/>
          </a:p>
        </p:txBody>
      </p:sp>
      <p:sp>
        <p:nvSpPr>
          <p:cNvPr id="12" name="Text 8"/>
          <p:cNvSpPr/>
          <p:nvPr/>
        </p:nvSpPr>
        <p:spPr>
          <a:xfrm>
            <a:off x="7158038" y="4643438"/>
            <a:ext cx="552450" cy="114300"/>
          </a:xfrm>
          <a:prstGeom prst="rect">
            <a:avLst/>
          </a:prstGeom>
          <a:noFill/>
          <a:ln/>
        </p:spPr>
        <p:txBody>
          <a:bodyPr wrap="square" lIns="0" tIns="0" rIns="0" bIns="0" rtlCol="0" anchor="t"/>
          <a:lstStyle/>
          <a:p>
            <a:pPr algn="l" indent="0" marL="0">
              <a:lnSpc>
                <a:spcPts val="862"/>
              </a:lnSpc>
              <a:buNone/>
            </a:pPr>
            <a:r>
              <a:rPr lang="en-US" sz="713" dirty="0">
                <a:solidFill>
                  <a:srgbClr val="FFFFFF">
                    <a:alpha val="99000"/>
                  </a:srgbClr>
                </a:solidFill>
                <a:latin typeface="Inter" pitchFamily="34" charset="0"/>
                <a:ea typeface="Inter" pitchFamily="34" charset="-122"/>
                <a:cs typeface="Inter" pitchFamily="34" charset="-120"/>
              </a:rPr>
              <a:t>9819981354</a:t>
            </a:r>
            <a:endParaRPr lang="en-US" sz="713" dirty="0"/>
          </a:p>
        </p:txBody>
      </p:sp>
      <p:sp>
        <p:nvSpPr>
          <p:cNvPr id="13" name="Text 9"/>
          <p:cNvSpPr/>
          <p:nvPr/>
        </p:nvSpPr>
        <p:spPr>
          <a:xfrm>
            <a:off x="285750" y="4533900"/>
            <a:ext cx="1962150" cy="323850"/>
          </a:xfrm>
          <a:prstGeom prst="rect">
            <a:avLst/>
          </a:prstGeom>
          <a:noFill/>
          <a:ln/>
        </p:spPr>
        <p:txBody>
          <a:bodyPr wrap="square" lIns="0" tIns="0" rIns="0" bIns="0" rtlCol="0" anchor="t"/>
          <a:lstStyle/>
          <a:p>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CONFIDENTIAL AND PROPRIETARY</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 | © </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BombayDC. </a:t>
            </a:r>
            <a:endParaRPr lang="en-US" sz="427" dirty="0"/>
          </a:p>
          <a:p>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This material is intended solely for your internal use and any use of this material without specific permission of </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BombayDC</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 is strictly prohibited. All rights reserved.</a:t>
            </a:r>
            <a:endParaRPr lang="en-US" sz="427" dirty="0"/>
          </a:p>
        </p:txBody>
      </p:sp>
      <p:sp>
        <p:nvSpPr>
          <p:cNvPr id="14" name="Shape 10"/>
          <p:cNvSpPr/>
          <p:nvPr/>
        </p:nvSpPr>
        <p:spPr>
          <a:xfrm>
            <a:off x="285750" y="1485900"/>
            <a:ext cx="6657975" cy="1390650"/>
          </a:xfrm>
          <a:prstGeom prst="rect">
            <a:avLst/>
          </a:prstGeom>
          <a:noFill/>
          <a:ln/>
        </p:spPr>
      </p:sp>
      <p:sp>
        <p:nvSpPr>
          <p:cNvPr id="15" name="Shape 11"/>
          <p:cNvSpPr/>
          <p:nvPr/>
        </p:nvSpPr>
        <p:spPr>
          <a:xfrm>
            <a:off x="285750" y="1485900"/>
            <a:ext cx="6657975" cy="823913"/>
          </a:xfrm>
          <a:prstGeom prst="rect">
            <a:avLst/>
          </a:prstGeom>
          <a:noFill/>
          <a:ln/>
        </p:spPr>
      </p:sp>
      <p:sp>
        <p:nvSpPr>
          <p:cNvPr id="16" name="Text 12"/>
          <p:cNvSpPr/>
          <p:nvPr/>
        </p:nvSpPr>
        <p:spPr>
          <a:xfrm>
            <a:off x="242888" y="1485900"/>
            <a:ext cx="6700838" cy="823913"/>
          </a:xfrm>
          <a:prstGeom prst="rect">
            <a:avLst/>
          </a:prstGeom>
          <a:noFill/>
          <a:ln/>
        </p:spPr>
        <p:txBody>
          <a:bodyPr wrap="square" lIns="0" tIns="0" rIns="0" bIns="0" rtlCol="0" anchor="b"/>
          <a:lstStyle/>
          <a:p>
            <a:pPr algn="l" indent="0" marL="0">
              <a:lnSpc>
                <a:spcPts val="3563"/>
              </a:lnSpc>
              <a:buNone/>
            </a:pPr>
            <a:r>
              <a:rPr lang="en-US" sz="3563" spc="-178" kern="0" dirty="0">
                <a:solidFill>
                  <a:srgbClr val="ECE9E4">
                    <a:alpha val="99000"/>
                  </a:srgbClr>
                </a:solidFill>
                <a:latin typeface="Inter" pitchFamily="34" charset="0"/>
                <a:ea typeface="Inter" pitchFamily="34" charset="-122"/>
                <a:cs typeface="Inter" pitchFamily="34" charset="-120"/>
              </a:rPr>
              <a:t>DIGITAL PLATFORMS </a:t>
            </a:r>
            <a:endParaRPr lang="en-US" sz="3563" dirty="0"/>
          </a:p>
          <a:p>
            <a:pPr algn="l" indent="0" marL="0">
              <a:lnSpc>
                <a:spcPts val="3563"/>
              </a:lnSpc>
              <a:buNone/>
            </a:pPr>
            <a:r>
              <a:rPr lang="en-US" sz="3563" spc="-178" kern="0" dirty="0">
                <a:solidFill>
                  <a:srgbClr val="ECE9E4">
                    <a:alpha val="99000"/>
                  </a:srgbClr>
                </a:solidFill>
                <a:latin typeface="Inter" pitchFamily="34" charset="0"/>
                <a:ea typeface="Inter" pitchFamily="34" charset="-122"/>
                <a:cs typeface="Inter" pitchFamily="34" charset="-120"/>
              </a:rPr>
              <a:t>FOR THE AI ERA</a:t>
            </a:r>
            <a:endParaRPr lang="en-US" sz="3563" dirty="0"/>
          </a:p>
        </p:txBody>
      </p:sp>
      <p:sp>
        <p:nvSpPr>
          <p:cNvPr id="17" name="Text 13"/>
          <p:cNvSpPr/>
          <p:nvPr/>
        </p:nvSpPr>
        <p:spPr>
          <a:xfrm>
            <a:off x="285750" y="2690813"/>
            <a:ext cx="6657975" cy="185738"/>
          </a:xfrm>
          <a:prstGeom prst="rect">
            <a:avLst/>
          </a:prstGeom>
          <a:noFill/>
          <a:ln/>
        </p:spPr>
        <p:txBody>
          <a:bodyPr wrap="square" lIns="0" tIns="0" rIns="0" bIns="0" rtlCol="0" anchor="t"/>
          <a:lstStyle/>
          <a:p>
            <a:pPr algn="l" indent="0" marL="0">
              <a:lnSpc>
                <a:spcPts val="1380"/>
              </a:lnSpc>
              <a:buNone/>
            </a:pPr>
            <a:r>
              <a:rPr lang="en-US" sz="1140" spc="-57" kern="0" dirty="0">
                <a:solidFill>
                  <a:srgbClr val="FFFFFF">
                    <a:alpha val="99000"/>
                  </a:srgbClr>
                </a:solidFill>
                <a:latin typeface="Inter" pitchFamily="34" charset="0"/>
                <a:ea typeface="Inter" pitchFamily="34" charset="-122"/>
                <a:cs typeface="Inter" pitchFamily="34" charset="-120"/>
              </a:rPr>
              <a:t>For McKinsey &amp; Company</a:t>
            </a:r>
            <a:endParaRPr lang="en-US" sz="11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142875" y="381000"/>
            <a:ext cx="8858250" cy="0"/>
          </a:xfrm>
          <a:prstGeom prst="rect">
            <a:avLst/>
          </a:prstGeom>
          <a:noFill/>
          <a:ln/>
        </p:spPr>
      </p:sp>
      <p:sp>
        <p:nvSpPr>
          <p:cNvPr id="3" name="Shape 1"/>
          <p:cNvSpPr/>
          <p:nvPr/>
        </p:nvSpPr>
        <p:spPr>
          <a:xfrm>
            <a:off x="142875" y="381000"/>
            <a:ext cx="8858250" cy="719138"/>
          </a:xfrm>
          <a:prstGeom prst="rect">
            <a:avLst/>
          </a:prstGeom>
          <a:noFill/>
          <a:ln/>
        </p:spPr>
      </p:sp>
      <p:sp>
        <p:nvSpPr>
          <p:cNvPr id="4" name="Text 2"/>
          <p:cNvSpPr/>
          <p:nvPr/>
        </p:nvSpPr>
        <p:spPr>
          <a:xfrm>
            <a:off x="142875" y="523875"/>
            <a:ext cx="1533525"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1</a:t>
            </a:r>
            <a:endParaRPr lang="en-US" sz="2138" dirty="0"/>
          </a:p>
        </p:txBody>
      </p:sp>
      <p:sp>
        <p:nvSpPr>
          <p:cNvPr id="5" name="Shape 3"/>
          <p:cNvSpPr/>
          <p:nvPr/>
        </p:nvSpPr>
        <p:spPr>
          <a:xfrm>
            <a:off x="1819275" y="523875"/>
            <a:ext cx="7181850" cy="576263"/>
          </a:xfrm>
          <a:prstGeom prst="rect">
            <a:avLst/>
          </a:prstGeom>
          <a:noFill/>
          <a:ln/>
        </p:spPr>
      </p:sp>
      <p:sp>
        <p:nvSpPr>
          <p:cNvPr id="6" name="Text 4"/>
          <p:cNvSpPr/>
          <p:nvPr/>
        </p:nvSpPr>
        <p:spPr>
          <a:xfrm>
            <a:off x="1819275" y="523875"/>
            <a:ext cx="7181850"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ECE9E4">
                    <a:alpha val="99000"/>
                  </a:srgbClr>
                </a:solidFill>
                <a:latin typeface="Inter" pitchFamily="34" charset="0"/>
                <a:ea typeface="Inter" pitchFamily="34" charset="-122"/>
                <a:cs typeface="Inter" pitchFamily="34" charset="-120"/>
              </a:rPr>
              <a:t>WHO WE ARE</a:t>
            </a:r>
            <a:endParaRPr lang="en-US" sz="2138" dirty="0"/>
          </a:p>
        </p:txBody>
      </p:sp>
      <p:sp>
        <p:nvSpPr>
          <p:cNvPr id="7" name="Text 5"/>
          <p:cNvSpPr/>
          <p:nvPr/>
        </p:nvSpPr>
        <p:spPr>
          <a:xfrm>
            <a:off x="1819275" y="876300"/>
            <a:ext cx="3795117" cy="223838"/>
          </a:xfrm>
          <a:prstGeom prst="rect">
            <a:avLst/>
          </a:prstGeom>
          <a:noFill/>
          <a:ln/>
        </p:spPr>
        <p:txBody>
          <a:bodyPr wrap="square" lIns="0" tIns="0" rIns="0" bIns="0" rtlCol="0" anchor="t"/>
          <a:lstStyle/>
          <a:p>
            <a:pPr algn="l" indent="0" marL="0">
              <a:lnSpc>
                <a:spcPts val="1069"/>
              </a:lnSpc>
              <a:buNone/>
            </a:pPr>
            <a:r>
              <a:rPr lang="en-US" sz="855" dirty="0">
                <a:solidFill>
                  <a:srgbClr val="B4B4B4">
                    <a:alpha val="99000"/>
                  </a:srgbClr>
                </a:solidFill>
                <a:latin typeface="Inter" pitchFamily="34" charset="0"/>
                <a:ea typeface="Inter" pitchFamily="34" charset="-122"/>
                <a:cs typeface="Inter" pitchFamily="34" charset="-120"/>
              </a:rPr>
              <a:t>A strategic digital platform firm helping enterprises build intelligent digital platforms that increase adoption, retention, and revenue.</a:t>
            </a:r>
            <a:endParaRPr lang="en-US" sz="855" dirty="0"/>
          </a:p>
        </p:txBody>
      </p:sp>
      <p:pic>
        <p:nvPicPr>
          <p:cNvPr id="8"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9" name="Shape 6"/>
          <p:cNvSpPr/>
          <p:nvPr/>
        </p:nvSpPr>
        <p:spPr>
          <a:xfrm>
            <a:off x="142875" y="1924050"/>
            <a:ext cx="8858250" cy="3028950"/>
          </a:xfrm>
          <a:prstGeom prst="rect">
            <a:avLst/>
          </a:prstGeom>
          <a:noFill/>
          <a:ln/>
        </p:spPr>
      </p:sp>
      <p:sp>
        <p:nvSpPr>
          <p:cNvPr id="10" name="Shape 7"/>
          <p:cNvSpPr/>
          <p:nvPr/>
        </p:nvSpPr>
        <p:spPr>
          <a:xfrm>
            <a:off x="142875" y="1924050"/>
            <a:ext cx="8858250" cy="223838"/>
          </a:xfrm>
          <a:prstGeom prst="rect">
            <a:avLst/>
          </a:prstGeom>
          <a:noFill/>
          <a:ln/>
        </p:spPr>
      </p:sp>
      <p:sp>
        <p:nvSpPr>
          <p:cNvPr id="11" name="Shape 8"/>
          <p:cNvSpPr/>
          <p:nvPr/>
        </p:nvSpPr>
        <p:spPr>
          <a:xfrm>
            <a:off x="1819275" y="1924050"/>
            <a:ext cx="7181850" cy="71438"/>
          </a:xfrm>
          <a:prstGeom prst="rect">
            <a:avLst/>
          </a:prstGeom>
          <a:noFill/>
          <a:ln/>
        </p:spPr>
      </p:sp>
      <p:sp>
        <p:nvSpPr>
          <p:cNvPr id="12" name="Text 9"/>
          <p:cNvSpPr/>
          <p:nvPr/>
        </p:nvSpPr>
        <p:spPr>
          <a:xfrm>
            <a:off x="1819275" y="1924050"/>
            <a:ext cx="1381125" cy="71438"/>
          </a:xfrm>
          <a:prstGeom prst="rect">
            <a:avLst/>
          </a:prstGeom>
          <a:noFill/>
          <a:ln/>
        </p:spPr>
        <p:txBody>
          <a:bodyPr wrap="square" lIns="0" tIns="0" rIns="0" bIns="0" rtlCol="0" anchor="t"/>
          <a:lstStyle/>
          <a:p>
            <a:pPr algn="l" indent="0" marL="0">
              <a:lnSpc>
                <a:spcPts val="1069"/>
              </a:lnSpc>
              <a:buNone/>
            </a:pPr>
            <a:r>
              <a:rPr lang="en-US" sz="713" dirty="0">
                <a:solidFill>
                  <a:srgbClr val="B4B4B4">
                    <a:alpha val="99000"/>
                  </a:srgbClr>
                </a:solidFill>
                <a:latin typeface="Inter" pitchFamily="34" charset="0"/>
                <a:ea typeface="Inter" pitchFamily="34" charset="-122"/>
                <a:cs typeface="Inter" pitchFamily="34" charset="-120"/>
              </a:rPr>
              <a:t>EXPERIENCE</a:t>
            </a:r>
            <a:endParaRPr lang="en-US" sz="713" dirty="0"/>
          </a:p>
        </p:txBody>
      </p:sp>
      <p:sp>
        <p:nvSpPr>
          <p:cNvPr id="13" name="Text 10"/>
          <p:cNvSpPr/>
          <p:nvPr/>
        </p:nvSpPr>
        <p:spPr>
          <a:xfrm>
            <a:off x="3600450" y="1924050"/>
            <a:ext cx="1381125" cy="71438"/>
          </a:xfrm>
          <a:prstGeom prst="rect">
            <a:avLst/>
          </a:prstGeom>
          <a:noFill/>
          <a:ln/>
        </p:spPr>
        <p:txBody>
          <a:bodyPr wrap="square" lIns="0" tIns="0" rIns="0" bIns="0" rtlCol="0" anchor="t"/>
          <a:lstStyle/>
          <a:p>
            <a:pPr algn="l" indent="0" marL="0">
              <a:lnSpc>
                <a:spcPts val="1069"/>
              </a:lnSpc>
              <a:buNone/>
            </a:pPr>
            <a:r>
              <a:rPr lang="en-US" sz="713" dirty="0">
                <a:solidFill>
                  <a:srgbClr val="B4B4B4">
                    <a:alpha val="99000"/>
                  </a:srgbClr>
                </a:solidFill>
                <a:latin typeface="Inter" pitchFamily="34" charset="0"/>
                <a:ea typeface="Inter" pitchFamily="34" charset="-122"/>
                <a:cs typeface="Inter" pitchFamily="34" charset="-120"/>
              </a:rPr>
              <a:t>SCALE</a:t>
            </a:r>
            <a:endParaRPr lang="en-US" sz="713" dirty="0"/>
          </a:p>
        </p:txBody>
      </p:sp>
      <p:sp>
        <p:nvSpPr>
          <p:cNvPr id="14" name="Text 11"/>
          <p:cNvSpPr/>
          <p:nvPr/>
        </p:nvSpPr>
        <p:spPr>
          <a:xfrm>
            <a:off x="5381625" y="1924050"/>
            <a:ext cx="1381125" cy="71438"/>
          </a:xfrm>
          <a:prstGeom prst="rect">
            <a:avLst/>
          </a:prstGeom>
          <a:noFill/>
          <a:ln/>
        </p:spPr>
        <p:txBody>
          <a:bodyPr wrap="square" lIns="0" tIns="0" rIns="0" bIns="0" rtlCol="0" anchor="t"/>
          <a:lstStyle/>
          <a:p>
            <a:pPr algn="l" indent="0" marL="0">
              <a:lnSpc>
                <a:spcPts val="1069"/>
              </a:lnSpc>
              <a:buNone/>
            </a:pPr>
            <a:r>
              <a:rPr lang="en-US" sz="713" dirty="0">
                <a:solidFill>
                  <a:srgbClr val="B4B4B4">
                    <a:alpha val="99000"/>
                  </a:srgbClr>
                </a:solidFill>
                <a:latin typeface="Inter" pitchFamily="34" charset="0"/>
                <a:ea typeface="Inter" pitchFamily="34" charset="-122"/>
                <a:cs typeface="Inter" pitchFamily="34" charset="-120"/>
              </a:rPr>
              <a:t>TRUST</a:t>
            </a:r>
            <a:endParaRPr lang="en-US" sz="713" dirty="0"/>
          </a:p>
        </p:txBody>
      </p:sp>
      <p:sp>
        <p:nvSpPr>
          <p:cNvPr id="15" name="Text 12"/>
          <p:cNvSpPr/>
          <p:nvPr/>
        </p:nvSpPr>
        <p:spPr>
          <a:xfrm>
            <a:off x="7162800" y="1924050"/>
            <a:ext cx="1381125" cy="71438"/>
          </a:xfrm>
          <a:prstGeom prst="rect">
            <a:avLst/>
          </a:prstGeom>
          <a:noFill/>
          <a:ln/>
        </p:spPr>
        <p:txBody>
          <a:bodyPr wrap="square" lIns="0" tIns="0" rIns="0" bIns="0" rtlCol="0" anchor="t"/>
          <a:lstStyle/>
          <a:p>
            <a:pPr algn="l" indent="0" marL="0">
              <a:lnSpc>
                <a:spcPts val="1069"/>
              </a:lnSpc>
              <a:buNone/>
            </a:pPr>
            <a:r>
              <a:rPr lang="en-US" sz="713" dirty="0">
                <a:solidFill>
                  <a:srgbClr val="B4B4B4">
                    <a:alpha val="99000"/>
                  </a:srgbClr>
                </a:solidFill>
                <a:latin typeface="Inter" pitchFamily="34" charset="0"/>
                <a:ea typeface="Inter" pitchFamily="34" charset="-122"/>
                <a:cs typeface="Inter" pitchFamily="34" charset="-120"/>
              </a:rPr>
              <a:t>CLIENTS</a:t>
            </a:r>
            <a:endParaRPr lang="en-US" sz="713" dirty="0"/>
          </a:p>
        </p:txBody>
      </p:sp>
      <p:sp>
        <p:nvSpPr>
          <p:cNvPr id="16" name="Shape 13"/>
          <p:cNvSpPr/>
          <p:nvPr/>
        </p:nvSpPr>
        <p:spPr>
          <a:xfrm rot="0">
            <a:off x="142875" y="2147887"/>
            <a:ext cx="8858250" cy="0"/>
          </a:xfrm>
          <a:prstGeom prst="line">
            <a:avLst/>
          </a:prstGeom>
          <a:noFill/>
          <a:ln w="4524">
            <a:solidFill>
              <a:srgbClr val="ECE9E4"/>
            </a:solidFill>
            <a:prstDash val="solid"/>
          </a:ln>
        </p:spPr>
      </p:sp>
      <p:sp>
        <p:nvSpPr>
          <p:cNvPr id="17" name="Shape 14"/>
          <p:cNvSpPr/>
          <p:nvPr/>
        </p:nvSpPr>
        <p:spPr>
          <a:xfrm>
            <a:off x="142875" y="2762250"/>
            <a:ext cx="8858250" cy="2190750"/>
          </a:xfrm>
          <a:prstGeom prst="rect">
            <a:avLst/>
          </a:prstGeom>
          <a:noFill/>
          <a:ln/>
        </p:spPr>
      </p:sp>
      <p:sp>
        <p:nvSpPr>
          <p:cNvPr id="18" name="Shape 15"/>
          <p:cNvSpPr/>
          <p:nvPr/>
        </p:nvSpPr>
        <p:spPr>
          <a:xfrm>
            <a:off x="1819275" y="2762250"/>
            <a:ext cx="1381125" cy="1905000"/>
          </a:xfrm>
          <a:prstGeom prst="rect">
            <a:avLst/>
          </a:prstGeom>
          <a:noFill/>
          <a:ln/>
        </p:spPr>
      </p:sp>
      <p:sp>
        <p:nvSpPr>
          <p:cNvPr id="19" name="Shape 16"/>
          <p:cNvSpPr/>
          <p:nvPr/>
        </p:nvSpPr>
        <p:spPr>
          <a:xfrm>
            <a:off x="1819275" y="2762250"/>
            <a:ext cx="1381125" cy="666750"/>
          </a:xfrm>
          <a:prstGeom prst="rect">
            <a:avLst/>
          </a:prstGeom>
          <a:noFill/>
          <a:ln/>
        </p:spPr>
      </p:sp>
      <p:sp>
        <p:nvSpPr>
          <p:cNvPr id="20" name="Text 17"/>
          <p:cNvSpPr/>
          <p:nvPr/>
        </p:nvSpPr>
        <p:spPr>
          <a:xfrm>
            <a:off x="1819275" y="2762250"/>
            <a:ext cx="1381125" cy="347663"/>
          </a:xfrm>
          <a:prstGeom prst="rect">
            <a:avLst/>
          </a:prstGeom>
          <a:noFill/>
          <a:ln/>
        </p:spPr>
        <p:txBody>
          <a:bodyPr wrap="square" lIns="0" tIns="0" rIns="0" bIns="0" rtlCol="0" anchor="t"/>
          <a:lstStyle/>
          <a:p>
            <a:pPr algn="l" indent="0" marL="0">
              <a:lnSpc>
                <a:spcPts val="4275"/>
              </a:lnSpc>
              <a:buNone/>
            </a:pPr>
            <a:r>
              <a:rPr lang="en-US" sz="3563" spc="-178" kern="0" dirty="0">
                <a:solidFill>
                  <a:srgbClr val="ECE9E4">
                    <a:alpha val="99000"/>
                  </a:srgbClr>
                </a:solidFill>
                <a:latin typeface="Inter" pitchFamily="34" charset="0"/>
                <a:ea typeface="Inter" pitchFamily="34" charset="-122"/>
                <a:cs typeface="Inter" pitchFamily="34" charset="-120"/>
              </a:rPr>
              <a:t>10</a:t>
            </a:r>
            <a:endParaRPr lang="en-US" sz="3563" dirty="0"/>
          </a:p>
        </p:txBody>
      </p:sp>
      <p:sp>
        <p:nvSpPr>
          <p:cNvPr id="21" name="Text 18"/>
          <p:cNvSpPr/>
          <p:nvPr/>
        </p:nvSpPr>
        <p:spPr>
          <a:xfrm>
            <a:off x="1819275" y="3224213"/>
            <a:ext cx="1381125" cy="61912"/>
          </a:xfrm>
          <a:prstGeom prst="rect">
            <a:avLst/>
          </a:prstGeom>
          <a:noFill/>
          <a:ln/>
        </p:spPr>
        <p:txBody>
          <a:bodyPr wrap="square" lIns="0" tIns="0" rIns="0" bIns="0" rtlCol="0" anchor="t"/>
          <a:lstStyle/>
          <a:p>
            <a:pPr algn="l" indent="0" marL="0">
              <a:lnSpc>
                <a:spcPts val="1069"/>
              </a:lnSpc>
              <a:buNone/>
            </a:pPr>
            <a:r>
              <a:rPr lang="en-US" sz="641" dirty="0">
                <a:solidFill>
                  <a:srgbClr val="B4B4B4">
                    <a:alpha val="99000"/>
                  </a:srgbClr>
                </a:solidFill>
                <a:latin typeface="Inter" pitchFamily="34" charset="0"/>
                <a:ea typeface="Inter" pitchFamily="34" charset="-122"/>
                <a:cs typeface="Inter" pitchFamily="34" charset="-120"/>
              </a:rPr>
              <a:t>Years building Digital Products</a:t>
            </a:r>
            <a:endParaRPr lang="en-US" sz="641" dirty="0"/>
          </a:p>
        </p:txBody>
      </p:sp>
      <p:pic>
        <p:nvPicPr>
          <p:cNvPr id="22" name="Image 1" descr="preencoded.png">    </p:cNvPr>
          <p:cNvPicPr>
            <a:picLocks noChangeAspect="1"/>
          </p:cNvPicPr>
          <p:nvPr/>
        </p:nvPicPr>
        <p:blipFill>
          <a:blip r:embed="rId2"/>
          <a:srcRect l="0" r="0" t="0" b="0"/>
          <a:stretch/>
        </p:blipFill>
        <p:spPr>
          <a:xfrm>
            <a:off x="1819275" y="4000500"/>
            <a:ext cx="1381125" cy="667785"/>
          </a:xfrm>
          <a:prstGeom prst="rect">
            <a:avLst/>
          </a:prstGeom>
        </p:spPr>
      </p:pic>
      <p:sp>
        <p:nvSpPr>
          <p:cNvPr id="23" name="Shape 19"/>
          <p:cNvSpPr/>
          <p:nvPr/>
        </p:nvSpPr>
        <p:spPr>
          <a:xfrm>
            <a:off x="3600450" y="2762250"/>
            <a:ext cx="1381125" cy="1905000"/>
          </a:xfrm>
          <a:prstGeom prst="rect">
            <a:avLst/>
          </a:prstGeom>
          <a:noFill/>
          <a:ln/>
        </p:spPr>
      </p:sp>
      <p:sp>
        <p:nvSpPr>
          <p:cNvPr id="24" name="Shape 20"/>
          <p:cNvSpPr/>
          <p:nvPr/>
        </p:nvSpPr>
        <p:spPr>
          <a:xfrm>
            <a:off x="3600450" y="2762250"/>
            <a:ext cx="1381125" cy="666750"/>
          </a:xfrm>
          <a:prstGeom prst="rect">
            <a:avLst/>
          </a:prstGeom>
          <a:noFill/>
          <a:ln/>
        </p:spPr>
      </p:sp>
      <p:sp>
        <p:nvSpPr>
          <p:cNvPr id="25" name="Text 21"/>
          <p:cNvSpPr/>
          <p:nvPr/>
        </p:nvSpPr>
        <p:spPr>
          <a:xfrm>
            <a:off x="3600450" y="2762250"/>
            <a:ext cx="1381125" cy="347663"/>
          </a:xfrm>
          <a:prstGeom prst="rect">
            <a:avLst/>
          </a:prstGeom>
          <a:noFill/>
          <a:ln/>
        </p:spPr>
        <p:txBody>
          <a:bodyPr wrap="square" lIns="0" tIns="0" rIns="0" bIns="0" rtlCol="0" anchor="t"/>
          <a:lstStyle/>
          <a:p>
            <a:pPr algn="l" indent="0" marL="0">
              <a:lnSpc>
                <a:spcPts val="4275"/>
              </a:lnSpc>
              <a:buNone/>
            </a:pPr>
            <a:r>
              <a:rPr lang="en-US" sz="3563" spc="-178" kern="0" dirty="0">
                <a:solidFill>
                  <a:srgbClr val="ECE9E4">
                    <a:alpha val="99000"/>
                  </a:srgbClr>
                </a:solidFill>
                <a:latin typeface="Inter" pitchFamily="34" charset="0"/>
                <a:ea typeface="Inter" pitchFamily="34" charset="-122"/>
                <a:cs typeface="Inter" pitchFamily="34" charset="-120"/>
              </a:rPr>
              <a:t>80</a:t>
            </a:r>
            <a:endParaRPr lang="en-US" sz="3563" dirty="0"/>
          </a:p>
        </p:txBody>
      </p:sp>
      <p:sp>
        <p:nvSpPr>
          <p:cNvPr id="26" name="Text 22"/>
          <p:cNvSpPr/>
          <p:nvPr/>
        </p:nvSpPr>
        <p:spPr>
          <a:xfrm>
            <a:off x="3600450" y="3224213"/>
            <a:ext cx="1381125" cy="204788"/>
          </a:xfrm>
          <a:prstGeom prst="rect">
            <a:avLst/>
          </a:prstGeom>
          <a:noFill/>
          <a:ln/>
        </p:spPr>
        <p:txBody>
          <a:bodyPr wrap="square" lIns="0" tIns="0" rIns="0" bIns="0" rtlCol="0" anchor="t"/>
          <a:lstStyle/>
          <a:p>
            <a:pPr algn="l" indent="0" marL="0">
              <a:lnSpc>
                <a:spcPts val="1069"/>
              </a:lnSpc>
              <a:buNone/>
            </a:pPr>
            <a:r>
              <a:rPr lang="en-US" sz="641" dirty="0">
                <a:solidFill>
                  <a:srgbClr val="B4B4B4">
                    <a:alpha val="99000"/>
                  </a:srgbClr>
                </a:solidFill>
                <a:latin typeface="Inter" pitchFamily="34" charset="0"/>
                <a:ea typeface="Inter" pitchFamily="34" charset="-122"/>
                <a:cs typeface="Inter" pitchFamily="34" charset="-120"/>
              </a:rPr>
              <a:t>Specialists in Strategy, </a:t>
            </a:r>
            <a:endParaRPr lang="en-US" sz="641" dirty="0"/>
          </a:p>
          <a:p>
            <a:pPr algn="l" indent="0" marL="0">
              <a:lnSpc>
                <a:spcPts val="1069"/>
              </a:lnSpc>
              <a:buNone/>
            </a:pPr>
            <a:r>
              <a:rPr lang="en-US" sz="641" dirty="0">
                <a:solidFill>
                  <a:srgbClr val="B4B4B4">
                    <a:alpha val="99000"/>
                  </a:srgbClr>
                </a:solidFill>
                <a:latin typeface="Inter" pitchFamily="34" charset="0"/>
                <a:ea typeface="Inter" pitchFamily="34" charset="-122"/>
                <a:cs typeface="Inter" pitchFamily="34" charset="-120"/>
              </a:rPr>
              <a:t>Design &amp; Engineering</a:t>
            </a:r>
            <a:endParaRPr lang="en-US" sz="641" dirty="0"/>
          </a:p>
        </p:txBody>
      </p:sp>
      <p:pic>
        <p:nvPicPr>
          <p:cNvPr id="27" name="Image 2" descr="preencoded.png">    </p:cNvPr>
          <p:cNvPicPr>
            <a:picLocks noChangeAspect="1"/>
          </p:cNvPicPr>
          <p:nvPr/>
        </p:nvPicPr>
        <p:blipFill>
          <a:blip r:embed="rId3"/>
          <a:srcRect l="0" r="0" t="0" b="0"/>
          <a:stretch/>
        </p:blipFill>
        <p:spPr>
          <a:xfrm>
            <a:off x="3600450" y="4000500"/>
            <a:ext cx="1381125" cy="684284"/>
          </a:xfrm>
          <a:prstGeom prst="rect">
            <a:avLst/>
          </a:prstGeom>
        </p:spPr>
      </p:pic>
      <p:sp>
        <p:nvSpPr>
          <p:cNvPr id="28" name="Shape 23"/>
          <p:cNvSpPr/>
          <p:nvPr/>
        </p:nvSpPr>
        <p:spPr>
          <a:xfrm>
            <a:off x="5381625" y="2762250"/>
            <a:ext cx="1381125" cy="2190750"/>
          </a:xfrm>
          <a:prstGeom prst="rect">
            <a:avLst/>
          </a:prstGeom>
          <a:noFill/>
          <a:ln/>
        </p:spPr>
      </p:sp>
      <p:sp>
        <p:nvSpPr>
          <p:cNvPr id="29" name="Shape 24"/>
          <p:cNvSpPr/>
          <p:nvPr/>
        </p:nvSpPr>
        <p:spPr>
          <a:xfrm>
            <a:off x="5381625" y="2762250"/>
            <a:ext cx="1381125" cy="666750"/>
          </a:xfrm>
          <a:prstGeom prst="rect">
            <a:avLst/>
          </a:prstGeom>
          <a:noFill/>
          <a:ln/>
        </p:spPr>
      </p:sp>
      <p:sp>
        <p:nvSpPr>
          <p:cNvPr id="30" name="Text 25"/>
          <p:cNvSpPr/>
          <p:nvPr/>
        </p:nvSpPr>
        <p:spPr>
          <a:xfrm>
            <a:off x="5381625" y="2762250"/>
            <a:ext cx="1381125" cy="347663"/>
          </a:xfrm>
          <a:prstGeom prst="rect">
            <a:avLst/>
          </a:prstGeom>
          <a:noFill/>
          <a:ln/>
        </p:spPr>
        <p:txBody>
          <a:bodyPr wrap="square" lIns="0" tIns="0" rIns="0" bIns="0" rtlCol="0" anchor="t"/>
          <a:lstStyle/>
          <a:p>
            <a:pPr algn="l" indent="0" marL="0">
              <a:lnSpc>
                <a:spcPts val="4275"/>
              </a:lnSpc>
              <a:buNone/>
            </a:pPr>
            <a:r>
              <a:rPr lang="en-US" sz="3563" spc="-178" kern="0" dirty="0">
                <a:solidFill>
                  <a:srgbClr val="ECE9E4">
                    <a:alpha val="99000"/>
                  </a:srgbClr>
                </a:solidFill>
                <a:latin typeface="Inter" pitchFamily="34" charset="0"/>
                <a:ea typeface="Inter" pitchFamily="34" charset="-122"/>
                <a:cs typeface="Inter" pitchFamily="34" charset="-120"/>
              </a:rPr>
              <a:t>85%</a:t>
            </a:r>
            <a:endParaRPr lang="en-US" sz="3563" dirty="0"/>
          </a:p>
        </p:txBody>
      </p:sp>
      <p:sp>
        <p:nvSpPr>
          <p:cNvPr id="31" name="Text 26"/>
          <p:cNvSpPr/>
          <p:nvPr/>
        </p:nvSpPr>
        <p:spPr>
          <a:xfrm>
            <a:off x="5381625" y="3224213"/>
            <a:ext cx="1381125" cy="204788"/>
          </a:xfrm>
          <a:prstGeom prst="rect">
            <a:avLst/>
          </a:prstGeom>
          <a:noFill/>
          <a:ln/>
        </p:spPr>
        <p:txBody>
          <a:bodyPr wrap="square" lIns="0" tIns="0" rIns="0" bIns="0" rtlCol="0" anchor="t"/>
          <a:lstStyle/>
          <a:p>
            <a:pPr algn="l" indent="0" marL="0">
              <a:lnSpc>
                <a:spcPts val="1069"/>
              </a:lnSpc>
              <a:buNone/>
            </a:pPr>
            <a:r>
              <a:rPr lang="en-US" sz="641" dirty="0">
                <a:solidFill>
                  <a:srgbClr val="B4B4B4">
                    <a:alpha val="99000"/>
                  </a:srgbClr>
                </a:solidFill>
                <a:latin typeface="Inter" pitchFamily="34" charset="0"/>
                <a:ea typeface="Inter" pitchFamily="34" charset="-122"/>
                <a:cs typeface="Inter" pitchFamily="34" charset="-120"/>
              </a:rPr>
              <a:t>Client Repeat Rate</a:t>
            </a:r>
            <a:endParaRPr lang="en-US" sz="641" dirty="0"/>
          </a:p>
          <a:p>
            <a:pPr algn="l" indent="0" marL="0">
              <a:lnSpc>
                <a:spcPts val="1069"/>
              </a:lnSpc>
              <a:buNone/>
            </a:pPr>
            <a:r>
              <a:rPr lang="en-US" sz="641" dirty="0">
                <a:solidFill>
                  <a:srgbClr val="B4B4B4">
                    <a:alpha val="99000"/>
                  </a:srgbClr>
                </a:solidFill>
                <a:latin typeface="Inter" pitchFamily="34" charset="0"/>
                <a:ea typeface="Inter" pitchFamily="34" charset="-122"/>
                <a:cs typeface="Inter" pitchFamily="34" charset="-120"/>
              </a:rPr>
              <a:t>Long-term Enterprise Partnership</a:t>
            </a:r>
            <a:endParaRPr lang="en-US" sz="641" dirty="0"/>
          </a:p>
        </p:txBody>
      </p:sp>
      <p:pic>
        <p:nvPicPr>
          <p:cNvPr id="32" name="Image 3" descr="preencoded.png">    </p:cNvPr>
          <p:cNvPicPr>
            <a:picLocks noChangeAspect="1"/>
          </p:cNvPicPr>
          <p:nvPr/>
        </p:nvPicPr>
        <p:blipFill>
          <a:blip r:embed="rId4"/>
          <a:srcRect l="0" r="0" t="0" b="0"/>
          <a:stretch/>
        </p:blipFill>
        <p:spPr>
          <a:xfrm>
            <a:off x="5381625" y="4000500"/>
            <a:ext cx="1381125" cy="971009"/>
          </a:xfrm>
          <a:prstGeom prst="rect">
            <a:avLst/>
          </a:prstGeom>
        </p:spPr>
      </p:pic>
      <p:sp>
        <p:nvSpPr>
          <p:cNvPr id="33" name="Shape 27"/>
          <p:cNvSpPr/>
          <p:nvPr/>
        </p:nvSpPr>
        <p:spPr>
          <a:xfrm>
            <a:off x="7162800" y="2762250"/>
            <a:ext cx="1381125" cy="2071688"/>
          </a:xfrm>
          <a:prstGeom prst="rect">
            <a:avLst/>
          </a:prstGeom>
          <a:noFill/>
          <a:ln/>
        </p:spPr>
      </p:sp>
      <p:sp>
        <p:nvSpPr>
          <p:cNvPr id="34" name="Text 28"/>
          <p:cNvSpPr/>
          <p:nvPr/>
        </p:nvSpPr>
        <p:spPr>
          <a:xfrm>
            <a:off x="7162800" y="2762250"/>
            <a:ext cx="2109788" cy="2071688"/>
          </a:xfrm>
          <a:prstGeom prst="rect">
            <a:avLst/>
          </a:prstGeom>
          <a:noFill/>
          <a:ln/>
        </p:spPr>
        <p:txBody>
          <a:bodyPr wrap="square" lIns="0" tIns="0" rIns="0" bIns="0" rtlCol="0" anchor="t"/>
          <a:lstStyle/>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Kotak Mahindra Bank</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Bharat Connect - NPCI</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AU Small Finance Bank</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Aditya Birla Capital</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Tata Communications</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VIP Bags</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Kokuyo Camlin</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Godrej Enterprises</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Blue Star</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Eureka Forbes</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Tata Chemicals</a:t>
            </a:r>
            <a:endParaRPr lang="en-US" sz="855" dirty="0"/>
          </a:p>
          <a:p>
            <a:pPr algn="l" marL="342900" indent="-342900">
              <a:lnSpc>
                <a:spcPts val="1368"/>
              </a:lnSpc>
              <a:buSzPct val="100000"/>
              <a:buFont typeface="+mj-lt"/>
              <a:buAutoNum type="arabicPeriod" startAt="1"/>
            </a:pPr>
            <a:r>
              <a:rPr lang="en-US" sz="855" spc="-43" kern="0" dirty="0">
                <a:solidFill>
                  <a:srgbClr val="ECE9E4">
                    <a:alpha val="99000"/>
                  </a:srgbClr>
                </a:solidFill>
                <a:latin typeface="Inter" pitchFamily="34" charset="0"/>
                <a:ea typeface="Inter" pitchFamily="34" charset="-122"/>
                <a:cs typeface="Inter" pitchFamily="34" charset="-120"/>
              </a:rPr>
              <a:t>Lotto</a:t>
            </a:r>
            <a:endParaRPr lang="en-US" sz="85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9E4"/>
        </a:solidFill>
      </p:bgPr>
    </p:bg>
    <p:spTree>
      <p:nvGrpSpPr>
        <p:cNvPr id="1" name=""/>
        <p:cNvGrpSpPr/>
        <p:nvPr/>
      </p:nvGrpSpPr>
      <p:grpSpPr>
        <a:xfrm>
          <a:off x="0" y="0"/>
          <a:ext cx="0" cy="0"/>
          <a:chOff x="0" y="0"/>
          <a:chExt cx="0" cy="0"/>
        </a:xfrm>
      </p:grpSpPr>
      <p:sp>
        <p:nvSpPr>
          <p:cNvPr id="2" name="Shape 0"/>
          <p:cNvSpPr/>
          <p:nvPr/>
        </p:nvSpPr>
        <p:spPr>
          <a:xfrm rot="0">
            <a:off x="142875" y="2047875"/>
            <a:ext cx="8858250" cy="0"/>
          </a:xfrm>
          <a:prstGeom prst="line">
            <a:avLst/>
          </a:prstGeom>
          <a:noFill/>
          <a:ln w="4524">
            <a:solidFill>
              <a:srgbClr val="B4B4B4"/>
            </a:solidFill>
            <a:prstDash val="solid"/>
          </a:ln>
        </p:spPr>
      </p:sp>
      <p:sp>
        <p:nvSpPr>
          <p:cNvPr id="3" name="Shape 1"/>
          <p:cNvSpPr/>
          <p:nvPr/>
        </p:nvSpPr>
        <p:spPr>
          <a:xfrm>
            <a:off x="142875" y="762000"/>
            <a:ext cx="8858250" cy="0"/>
          </a:xfrm>
          <a:prstGeom prst="rect">
            <a:avLst/>
          </a:prstGeom>
          <a:noFill/>
          <a:ln/>
        </p:spPr>
      </p:sp>
      <p:sp>
        <p:nvSpPr>
          <p:cNvPr id="4" name="Text 2"/>
          <p:cNvSpPr/>
          <p:nvPr/>
        </p:nvSpPr>
        <p:spPr>
          <a:xfrm>
            <a:off x="142875" y="523875"/>
            <a:ext cx="1543050"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2</a:t>
            </a:r>
            <a:endParaRPr lang="en-US" sz="2138" dirty="0"/>
          </a:p>
        </p:txBody>
      </p:sp>
      <p:sp>
        <p:nvSpPr>
          <p:cNvPr id="5" name="Text 3"/>
          <p:cNvSpPr/>
          <p:nvPr/>
        </p:nvSpPr>
        <p:spPr>
          <a:xfrm>
            <a:off x="1800225" y="523875"/>
            <a:ext cx="5062538" cy="519113"/>
          </a:xfrm>
          <a:prstGeom prst="rect">
            <a:avLst/>
          </a:prstGeom>
          <a:noFill/>
          <a:ln/>
        </p:spPr>
        <p:txBody>
          <a:bodyPr wrap="square" lIns="0" tIns="0" rIns="0" bIns="0" rtlCol="0" anchor="t"/>
          <a:lstStyle/>
          <a:p>
            <a:pPr algn="l" indent="0" marL="0">
              <a:lnSpc>
                <a:spcPts val="4275"/>
              </a:lnSpc>
              <a:buNone/>
            </a:pPr>
            <a:r>
              <a:rPr lang="en-US" sz="5344" spc="-267" kern="0" dirty="0">
                <a:solidFill>
                  <a:srgbClr val="1D1D1F">
                    <a:alpha val="99000"/>
                  </a:srgbClr>
                </a:solidFill>
                <a:latin typeface="Inter" pitchFamily="34" charset="0"/>
                <a:ea typeface="Inter" pitchFamily="34" charset="-122"/>
                <a:cs typeface="Inter" pitchFamily="34" charset="-120"/>
              </a:rPr>
              <a:t>THE SHIFT</a:t>
            </a:r>
            <a:endParaRPr lang="en-US" sz="5344" dirty="0"/>
          </a:p>
        </p:txBody>
      </p:sp>
      <p:sp>
        <p:nvSpPr>
          <p:cNvPr id="6" name="Shape 4"/>
          <p:cNvSpPr/>
          <p:nvPr/>
        </p:nvSpPr>
        <p:spPr>
          <a:xfrm>
            <a:off x="1824038" y="2333625"/>
            <a:ext cx="4533900" cy="1157288"/>
          </a:xfrm>
          <a:prstGeom prst="rect">
            <a:avLst/>
          </a:prstGeom>
          <a:noFill/>
          <a:ln/>
        </p:spPr>
      </p:sp>
      <p:sp>
        <p:nvSpPr>
          <p:cNvPr id="7" name="Text 5"/>
          <p:cNvSpPr/>
          <p:nvPr/>
        </p:nvSpPr>
        <p:spPr>
          <a:xfrm>
            <a:off x="1824038" y="2333625"/>
            <a:ext cx="2819400" cy="49530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INTELLIGENCE IS THE </a:t>
            </a:r>
            <a:endParaRPr lang="en-US" sz="2138" dirty="0"/>
          </a:p>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NEW DESIGN FABRIC</a:t>
            </a:r>
            <a:endParaRPr lang="en-US" sz="2138" dirty="0"/>
          </a:p>
        </p:txBody>
      </p:sp>
      <p:sp>
        <p:nvSpPr>
          <p:cNvPr id="8" name="Shape 6"/>
          <p:cNvSpPr/>
          <p:nvPr/>
        </p:nvSpPr>
        <p:spPr>
          <a:xfrm>
            <a:off x="1824038" y="2981325"/>
            <a:ext cx="3624263" cy="509587"/>
          </a:xfrm>
          <a:prstGeom prst="rect">
            <a:avLst/>
          </a:prstGeom>
          <a:noFill/>
          <a:ln/>
        </p:spPr>
      </p:sp>
      <p:sp>
        <p:nvSpPr>
          <p:cNvPr id="9" name="Text 7"/>
          <p:cNvSpPr/>
          <p:nvPr/>
        </p:nvSpPr>
        <p:spPr>
          <a:xfrm>
            <a:off x="1824038" y="2981325"/>
            <a:ext cx="3624263" cy="509587"/>
          </a:xfrm>
          <a:prstGeom prst="rect">
            <a:avLst/>
          </a:prstGeom>
          <a:noFill/>
          <a:ln/>
        </p:spPr>
        <p:txBody>
          <a:bodyPr wrap="square" lIns="0" tIns="0" rIns="0" bIns="0" rtlCol="0" anchor="t"/>
          <a:lstStyle/>
          <a:p>
            <a:pPr algn="l" indent="0" marL="0">
              <a:lnSpc>
                <a:spcPts val="1069"/>
              </a:lnSpc>
              <a:buNone/>
            </a:pPr>
            <a:r>
              <a:rPr lang="en-US" sz="855" dirty="0">
                <a:solidFill>
                  <a:srgbClr val="6A6A6B">
                    <a:alpha val="99000"/>
                  </a:srgbClr>
                </a:solidFill>
                <a:latin typeface="Inter" pitchFamily="34" charset="0"/>
                <a:ea typeface="Inter" pitchFamily="34" charset="-122"/>
                <a:cs typeface="Inter" pitchFamily="34" charset="-120"/>
              </a:rPr>
              <a:t>The rules of digital platforms have changed. Platforms must understand user behaviour and generate customised experience in real time. Most digital systems weren’t built for this shift. We help enterprises evolve their platforms for the AI era.</a:t>
            </a:r>
            <a:endParaRPr lang="en-US" sz="855" dirty="0"/>
          </a:p>
        </p:txBody>
      </p:sp>
      <p:pic>
        <p:nvPicPr>
          <p:cNvPr id="10" name="Image 0" descr="preencoded.png">    </p:cNvPr>
          <p:cNvPicPr>
            <a:picLocks noChangeAspect="1"/>
          </p:cNvPicPr>
          <p:nvPr/>
        </p:nvPicPr>
        <p:blipFill>
          <a:blip r:embed="rId1"/>
          <a:srcRect l="0" r="0" t="0" b="0"/>
          <a:stretch/>
        </p:blipFill>
        <p:spPr>
          <a:xfrm>
            <a:off x="142875" y="0"/>
            <a:ext cx="8858250" cy="5238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9E4"/>
        </a:solidFill>
      </p:bgPr>
    </p:bg>
    <p:spTree>
      <p:nvGrpSpPr>
        <p:cNvPr id="1" name=""/>
        <p:cNvGrpSpPr/>
        <p:nvPr/>
      </p:nvGrpSpPr>
      <p:grpSpPr>
        <a:xfrm>
          <a:off x="0" y="0"/>
          <a:ext cx="0" cy="0"/>
          <a:chOff x="0" y="0"/>
          <a:chExt cx="0" cy="0"/>
        </a:xfrm>
      </p:grpSpPr>
      <p:sp>
        <p:nvSpPr>
          <p:cNvPr id="2" name="Shape 0"/>
          <p:cNvSpPr/>
          <p:nvPr/>
        </p:nvSpPr>
        <p:spPr>
          <a:xfrm rot="0">
            <a:off x="142875" y="2238375"/>
            <a:ext cx="8858250" cy="0"/>
          </a:xfrm>
          <a:prstGeom prst="line">
            <a:avLst/>
          </a:prstGeom>
          <a:noFill/>
          <a:ln w="4524">
            <a:solidFill>
              <a:srgbClr val="B4B4B4"/>
            </a:solidFill>
            <a:prstDash val="solid"/>
          </a:ln>
        </p:spPr>
      </p:sp>
      <p:sp>
        <p:nvSpPr>
          <p:cNvPr id="3" name="Text 1"/>
          <p:cNvSpPr/>
          <p:nvPr/>
        </p:nvSpPr>
        <p:spPr>
          <a:xfrm>
            <a:off x="7324725" y="2381250"/>
            <a:ext cx="1676400" cy="214313"/>
          </a:xfrm>
          <a:prstGeom prst="rect">
            <a:avLst/>
          </a:prstGeom>
          <a:noFill/>
          <a:ln/>
        </p:spPr>
        <p:txBody>
          <a:bodyPr wrap="square" lIns="0" tIns="0" rIns="0" bIns="0" rtlCol="0" anchor="t"/>
          <a:lstStyle/>
          <a:p>
            <a:pPr algn="l" indent="0" marL="0">
              <a:lnSpc>
                <a:spcPts val="983"/>
              </a:lnSpc>
              <a:buNone/>
            </a:pPr>
            <a:r>
              <a:rPr lang="en-US" sz="855" b="1" dirty="0">
                <a:solidFill>
                  <a:srgbClr val="034E48">
                    <a:alpha val="99000"/>
                  </a:srgbClr>
                </a:solidFill>
                <a:latin typeface="Inter" pitchFamily="34" charset="0"/>
                <a:ea typeface="Inter" pitchFamily="34" charset="-122"/>
                <a:cs typeface="Inter" pitchFamily="34" charset="-120"/>
              </a:rPr>
              <a:t>Autonomous</a:t>
            </a:r>
            <a:endParaRPr lang="en-US" sz="855" dirty="0"/>
          </a:p>
          <a:p>
            <a:pPr algn="l" indent="0" marL="0">
              <a:lnSpc>
                <a:spcPts val="983"/>
              </a:lnSpc>
              <a:buNone/>
            </a:pPr>
            <a:r>
              <a:rPr lang="en-US" sz="855" dirty="0">
                <a:solidFill>
                  <a:srgbClr val="6A6A6B">
                    <a:alpha val="99000"/>
                  </a:srgbClr>
                </a:solidFill>
                <a:latin typeface="Inter" pitchFamily="34" charset="0"/>
                <a:ea typeface="Inter" pitchFamily="34" charset="-122"/>
                <a:cs typeface="Inter" pitchFamily="34" charset="-120"/>
              </a:rPr>
              <a:t>Optimises independently</a:t>
            </a:r>
            <a:endParaRPr lang="en-US" sz="855" dirty="0"/>
          </a:p>
        </p:txBody>
      </p:sp>
      <p:sp>
        <p:nvSpPr>
          <p:cNvPr id="4" name="Text 2"/>
          <p:cNvSpPr/>
          <p:nvPr/>
        </p:nvSpPr>
        <p:spPr>
          <a:xfrm>
            <a:off x="7324725" y="1238250"/>
            <a:ext cx="981075" cy="1000125"/>
          </a:xfrm>
          <a:prstGeom prst="rect">
            <a:avLst/>
          </a:prstGeom>
          <a:noFill/>
          <a:ln/>
        </p:spPr>
        <p:txBody>
          <a:bodyPr wrap="square" lIns="0" tIns="0" rIns="0" bIns="0" rtlCol="0" anchor="ctr"/>
          <a:lstStyle/>
          <a:p>
            <a:pPr algn="l" indent="0" marL="0">
              <a:lnSpc>
                <a:spcPts val="9054"/>
              </a:lnSpc>
              <a:buNone/>
            </a:pPr>
            <a:r>
              <a:rPr lang="en-US" sz="7481" spc="-374" kern="0" dirty="0">
                <a:solidFill>
                  <a:srgbClr val="034E48">
                    <a:alpha val="99000"/>
                  </a:srgbClr>
                </a:solidFill>
                <a:latin typeface="Inter" pitchFamily="34" charset="0"/>
                <a:ea typeface="Inter" pitchFamily="34" charset="-122"/>
                <a:cs typeface="Inter" pitchFamily="34" charset="-120"/>
              </a:rPr>
              <a:t>4</a:t>
            </a:r>
            <a:endParaRPr lang="en-US" sz="7481" dirty="0"/>
          </a:p>
        </p:txBody>
      </p:sp>
      <p:sp>
        <p:nvSpPr>
          <p:cNvPr id="5" name="Text 3"/>
          <p:cNvSpPr/>
          <p:nvPr/>
        </p:nvSpPr>
        <p:spPr>
          <a:xfrm>
            <a:off x="5491163" y="2381250"/>
            <a:ext cx="1676400" cy="214313"/>
          </a:xfrm>
          <a:prstGeom prst="rect">
            <a:avLst/>
          </a:prstGeom>
          <a:noFill/>
          <a:ln/>
        </p:spPr>
        <p:txBody>
          <a:bodyPr wrap="square" lIns="0" tIns="0" rIns="0" bIns="0" rtlCol="0" anchor="t"/>
          <a:lstStyle/>
          <a:p>
            <a:pPr algn="l" indent="0" marL="0">
              <a:lnSpc>
                <a:spcPts val="983"/>
              </a:lnSpc>
              <a:buNone/>
            </a:pPr>
            <a:r>
              <a:rPr lang="en-US" sz="855" b="1" dirty="0">
                <a:solidFill>
                  <a:srgbClr val="034E48">
                    <a:alpha val="99000"/>
                  </a:srgbClr>
                </a:solidFill>
                <a:latin typeface="Inter" pitchFamily="34" charset="0"/>
                <a:ea typeface="Inter" pitchFamily="34" charset="-122"/>
                <a:cs typeface="Inter" pitchFamily="34" charset="-120"/>
              </a:rPr>
              <a:t>Intelligent</a:t>
            </a:r>
            <a:endParaRPr lang="en-US" sz="855" dirty="0"/>
          </a:p>
          <a:p>
            <a:pPr algn="l" indent="0" marL="0">
              <a:lnSpc>
                <a:spcPts val="983"/>
              </a:lnSpc>
              <a:buNone/>
            </a:pPr>
            <a:r>
              <a:rPr lang="en-US" sz="855" dirty="0">
                <a:solidFill>
                  <a:srgbClr val="6A6A6B">
                    <a:alpha val="99000"/>
                  </a:srgbClr>
                </a:solidFill>
                <a:latin typeface="Inter" pitchFamily="34" charset="0"/>
                <a:ea typeface="Inter" pitchFamily="34" charset="-122"/>
                <a:cs typeface="Inter" pitchFamily="34" charset="-120"/>
              </a:rPr>
              <a:t>Learns from behaviour</a:t>
            </a:r>
            <a:endParaRPr lang="en-US" sz="855" dirty="0"/>
          </a:p>
        </p:txBody>
      </p:sp>
      <p:sp>
        <p:nvSpPr>
          <p:cNvPr id="6" name="Text 4"/>
          <p:cNvSpPr/>
          <p:nvPr/>
        </p:nvSpPr>
        <p:spPr>
          <a:xfrm>
            <a:off x="5491163" y="1238250"/>
            <a:ext cx="1066800" cy="1000125"/>
          </a:xfrm>
          <a:prstGeom prst="rect">
            <a:avLst/>
          </a:prstGeom>
          <a:noFill/>
          <a:ln/>
        </p:spPr>
        <p:txBody>
          <a:bodyPr wrap="square" lIns="0" tIns="0" rIns="0" bIns="0" rtlCol="0" anchor="ctr"/>
          <a:lstStyle/>
          <a:p>
            <a:pPr algn="l" indent="0" marL="0">
              <a:lnSpc>
                <a:spcPts val="9054"/>
              </a:lnSpc>
              <a:buNone/>
            </a:pPr>
            <a:r>
              <a:rPr lang="en-US" sz="7481" spc="-374" kern="0" dirty="0">
                <a:solidFill>
                  <a:srgbClr val="034E48">
                    <a:alpha val="99000"/>
                  </a:srgbClr>
                </a:solidFill>
                <a:latin typeface="Inter" pitchFamily="34" charset="0"/>
                <a:ea typeface="Inter" pitchFamily="34" charset="-122"/>
                <a:cs typeface="Inter" pitchFamily="34" charset="-120"/>
              </a:rPr>
              <a:t>3</a:t>
            </a:r>
            <a:endParaRPr lang="en-US" sz="7481" dirty="0"/>
          </a:p>
        </p:txBody>
      </p:sp>
      <p:sp>
        <p:nvSpPr>
          <p:cNvPr id="7" name="Text 5"/>
          <p:cNvSpPr/>
          <p:nvPr/>
        </p:nvSpPr>
        <p:spPr>
          <a:xfrm>
            <a:off x="3662362" y="2381250"/>
            <a:ext cx="1676400" cy="214313"/>
          </a:xfrm>
          <a:prstGeom prst="rect">
            <a:avLst/>
          </a:prstGeom>
          <a:noFill/>
          <a:ln/>
        </p:spPr>
        <p:txBody>
          <a:bodyPr wrap="square" lIns="0" tIns="0" rIns="0" bIns="0" rtlCol="0" anchor="t"/>
          <a:lstStyle/>
          <a:p>
            <a:pPr algn="l" indent="0" marL="0">
              <a:lnSpc>
                <a:spcPts val="983"/>
              </a:lnSpc>
              <a:buNone/>
            </a:pPr>
            <a:r>
              <a:rPr lang="en-US" sz="855" b="1" dirty="0">
                <a:solidFill>
                  <a:srgbClr val="1D1D1F">
                    <a:alpha val="99000"/>
                  </a:srgbClr>
                </a:solidFill>
                <a:latin typeface="Inter" pitchFamily="34" charset="0"/>
                <a:ea typeface="Inter" pitchFamily="34" charset="-122"/>
                <a:cs typeface="Inter" pitchFamily="34" charset="-120"/>
              </a:rPr>
              <a:t>Experiential</a:t>
            </a:r>
            <a:endParaRPr lang="en-US" sz="855" dirty="0"/>
          </a:p>
          <a:p>
            <a:pPr algn="l" indent="0" marL="0">
              <a:lnSpc>
                <a:spcPts val="983"/>
              </a:lnSpc>
              <a:buNone/>
            </a:pPr>
            <a:r>
              <a:rPr lang="en-US" sz="855" dirty="0">
                <a:solidFill>
                  <a:srgbClr val="6A6A6B">
                    <a:alpha val="99000"/>
                  </a:srgbClr>
                </a:solidFill>
                <a:latin typeface="Inter" pitchFamily="34" charset="0"/>
                <a:ea typeface="Inter" pitchFamily="34" charset="-122"/>
                <a:cs typeface="Inter" pitchFamily="34" charset="-120"/>
              </a:rPr>
              <a:t>Improves usability</a:t>
            </a:r>
            <a:endParaRPr lang="en-US" sz="855" dirty="0"/>
          </a:p>
        </p:txBody>
      </p:sp>
      <p:sp>
        <p:nvSpPr>
          <p:cNvPr id="8" name="Text 6"/>
          <p:cNvSpPr/>
          <p:nvPr/>
        </p:nvSpPr>
        <p:spPr>
          <a:xfrm>
            <a:off x="3662362" y="1238250"/>
            <a:ext cx="1062038" cy="1000125"/>
          </a:xfrm>
          <a:prstGeom prst="rect">
            <a:avLst/>
          </a:prstGeom>
          <a:noFill/>
          <a:ln/>
        </p:spPr>
        <p:txBody>
          <a:bodyPr wrap="square" lIns="0" tIns="0" rIns="0" bIns="0" rtlCol="0" anchor="ctr"/>
          <a:lstStyle/>
          <a:p>
            <a:pPr algn="l" indent="0" marL="0">
              <a:lnSpc>
                <a:spcPts val="9054"/>
              </a:lnSpc>
              <a:buNone/>
            </a:pPr>
            <a:r>
              <a:rPr lang="en-US" sz="7481" spc="-374" kern="0" dirty="0">
                <a:solidFill>
                  <a:srgbClr val="B4B4B4">
                    <a:alpha val="99000"/>
                  </a:srgbClr>
                </a:solidFill>
                <a:latin typeface="Inter" pitchFamily="34" charset="0"/>
                <a:ea typeface="Inter" pitchFamily="34" charset="-122"/>
                <a:cs typeface="Inter" pitchFamily="34" charset="-120"/>
              </a:rPr>
              <a:t>2</a:t>
            </a:r>
            <a:endParaRPr lang="en-US" sz="7481" dirty="0"/>
          </a:p>
        </p:txBody>
      </p:sp>
      <p:sp>
        <p:nvSpPr>
          <p:cNvPr id="9" name="Text 7"/>
          <p:cNvSpPr/>
          <p:nvPr/>
        </p:nvSpPr>
        <p:spPr>
          <a:xfrm>
            <a:off x="1828800" y="2381250"/>
            <a:ext cx="1676400" cy="214313"/>
          </a:xfrm>
          <a:prstGeom prst="rect">
            <a:avLst/>
          </a:prstGeom>
          <a:noFill/>
          <a:ln/>
        </p:spPr>
        <p:txBody>
          <a:bodyPr wrap="square" lIns="0" tIns="0" rIns="0" bIns="0" rtlCol="0" anchor="t"/>
          <a:lstStyle/>
          <a:p>
            <a:pPr algn="l" indent="0" marL="0">
              <a:lnSpc>
                <a:spcPts val="983"/>
              </a:lnSpc>
              <a:buNone/>
            </a:pPr>
            <a:r>
              <a:rPr lang="en-US" sz="855" b="1" dirty="0">
                <a:solidFill>
                  <a:srgbClr val="1D1D1F">
                    <a:alpha val="99000"/>
                  </a:srgbClr>
                </a:solidFill>
                <a:latin typeface="Inter" pitchFamily="34" charset="0"/>
                <a:ea typeface="Inter" pitchFamily="34" charset="-122"/>
                <a:cs typeface="Inter" pitchFamily="34" charset="-120"/>
              </a:rPr>
              <a:t>Transactional</a:t>
            </a:r>
            <a:endParaRPr lang="en-US" sz="855" dirty="0"/>
          </a:p>
          <a:p>
            <a:pPr algn="l" indent="0" marL="0">
              <a:lnSpc>
                <a:spcPts val="983"/>
              </a:lnSpc>
              <a:buNone/>
            </a:pPr>
            <a:r>
              <a:rPr lang="en-US" sz="855" dirty="0">
                <a:solidFill>
                  <a:srgbClr val="6A6A6B">
                    <a:alpha val="99000"/>
                  </a:srgbClr>
                </a:solidFill>
                <a:latin typeface="Inter" pitchFamily="34" charset="0"/>
                <a:ea typeface="Inter" pitchFamily="34" charset="-122"/>
                <a:cs typeface="Inter" pitchFamily="34" charset="-120"/>
              </a:rPr>
              <a:t>Executes tasks</a:t>
            </a:r>
            <a:endParaRPr lang="en-US" sz="855" dirty="0"/>
          </a:p>
        </p:txBody>
      </p:sp>
      <p:sp>
        <p:nvSpPr>
          <p:cNvPr id="10" name="Text 8"/>
          <p:cNvSpPr/>
          <p:nvPr/>
        </p:nvSpPr>
        <p:spPr>
          <a:xfrm>
            <a:off x="1828800" y="1238250"/>
            <a:ext cx="1066800" cy="1000125"/>
          </a:xfrm>
          <a:prstGeom prst="rect">
            <a:avLst/>
          </a:prstGeom>
          <a:noFill/>
          <a:ln/>
        </p:spPr>
        <p:txBody>
          <a:bodyPr wrap="square" lIns="0" tIns="0" rIns="0" bIns="0" rtlCol="0" anchor="ctr"/>
          <a:lstStyle/>
          <a:p>
            <a:pPr algn="l" indent="0" marL="0">
              <a:lnSpc>
                <a:spcPts val="9054"/>
              </a:lnSpc>
              <a:buNone/>
            </a:pPr>
            <a:r>
              <a:rPr lang="en-US" sz="7481" spc="-374" kern="0" dirty="0">
                <a:solidFill>
                  <a:srgbClr val="B4B4B4">
                    <a:alpha val="99000"/>
                  </a:srgbClr>
                </a:solidFill>
                <a:latin typeface="Inter" pitchFamily="34" charset="0"/>
                <a:ea typeface="Inter" pitchFamily="34" charset="-122"/>
                <a:cs typeface="Inter" pitchFamily="34" charset="-120"/>
              </a:rPr>
              <a:t>1</a:t>
            </a:r>
            <a:endParaRPr lang="en-US" sz="7481" dirty="0"/>
          </a:p>
        </p:txBody>
      </p:sp>
      <p:sp>
        <p:nvSpPr>
          <p:cNvPr id="11" name="Shape 9"/>
          <p:cNvSpPr/>
          <p:nvPr/>
        </p:nvSpPr>
        <p:spPr>
          <a:xfrm>
            <a:off x="142875" y="381000"/>
            <a:ext cx="8858250" cy="0"/>
          </a:xfrm>
          <a:prstGeom prst="rect">
            <a:avLst/>
          </a:prstGeom>
          <a:noFill/>
          <a:ln/>
        </p:spPr>
      </p:sp>
      <p:sp>
        <p:nvSpPr>
          <p:cNvPr id="12" name="Shape 10"/>
          <p:cNvSpPr/>
          <p:nvPr/>
        </p:nvSpPr>
        <p:spPr>
          <a:xfrm>
            <a:off x="142875" y="381000"/>
            <a:ext cx="8858250" cy="352425"/>
          </a:xfrm>
          <a:prstGeom prst="rect">
            <a:avLst/>
          </a:prstGeom>
          <a:noFill/>
          <a:ln/>
        </p:spPr>
      </p:sp>
      <p:sp>
        <p:nvSpPr>
          <p:cNvPr id="13" name="Text 11"/>
          <p:cNvSpPr/>
          <p:nvPr/>
        </p:nvSpPr>
        <p:spPr>
          <a:xfrm>
            <a:off x="142875" y="523875"/>
            <a:ext cx="1543050"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2A</a:t>
            </a:r>
            <a:endParaRPr lang="en-US" sz="2138" dirty="0"/>
          </a:p>
        </p:txBody>
      </p:sp>
      <p:sp>
        <p:nvSpPr>
          <p:cNvPr id="14" name="Shape 12"/>
          <p:cNvSpPr/>
          <p:nvPr/>
        </p:nvSpPr>
        <p:spPr>
          <a:xfrm>
            <a:off x="1828800" y="523875"/>
            <a:ext cx="4529138" cy="209550"/>
          </a:xfrm>
          <a:prstGeom prst="rect">
            <a:avLst/>
          </a:prstGeom>
          <a:noFill/>
          <a:ln/>
        </p:spPr>
      </p:sp>
      <p:sp>
        <p:nvSpPr>
          <p:cNvPr id="15" name="Text 13"/>
          <p:cNvSpPr/>
          <p:nvPr/>
        </p:nvSpPr>
        <p:spPr>
          <a:xfrm>
            <a:off x="1828800" y="523875"/>
            <a:ext cx="3795713"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1D1D1F">
                    <a:alpha val="99000"/>
                  </a:srgbClr>
                </a:solidFill>
                <a:latin typeface="Inter" pitchFamily="34" charset="0"/>
                <a:ea typeface="Inter" pitchFamily="34" charset="-122"/>
                <a:cs typeface="Inter" pitchFamily="34" charset="-120"/>
              </a:rPr>
              <a:t>PLATFORM MATURITY</a:t>
            </a:r>
            <a:endParaRPr lang="en-US" sz="2138" dirty="0"/>
          </a:p>
        </p:txBody>
      </p:sp>
      <p:pic>
        <p:nvPicPr>
          <p:cNvPr id="16"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17" name="Shape 14"/>
          <p:cNvSpPr/>
          <p:nvPr/>
        </p:nvSpPr>
        <p:spPr>
          <a:xfrm>
            <a:off x="1828800" y="3167063"/>
            <a:ext cx="7172325" cy="914400"/>
          </a:xfrm>
          <a:prstGeom prst="rect">
            <a:avLst/>
          </a:prstGeom>
          <a:noFill/>
          <a:ln/>
        </p:spPr>
      </p:sp>
      <p:sp>
        <p:nvSpPr>
          <p:cNvPr id="18" name="Shape 15"/>
          <p:cNvSpPr/>
          <p:nvPr/>
        </p:nvSpPr>
        <p:spPr>
          <a:xfrm>
            <a:off x="1828800" y="3167063"/>
            <a:ext cx="1831975" cy="914400"/>
          </a:xfrm>
          <a:prstGeom prst="rect">
            <a:avLst/>
          </a:prstGeom>
          <a:noFill/>
          <a:ln/>
        </p:spPr>
      </p:sp>
      <p:sp>
        <p:nvSpPr>
          <p:cNvPr id="19" name="Text 16"/>
          <p:cNvSpPr/>
          <p:nvPr/>
        </p:nvSpPr>
        <p:spPr>
          <a:xfrm>
            <a:off x="1828800" y="3167063"/>
            <a:ext cx="1831975" cy="142875"/>
          </a:xfrm>
          <a:prstGeom prst="rect">
            <a:avLst/>
          </a:prstGeom>
          <a:noFill/>
          <a:ln/>
        </p:spPr>
        <p:txBody>
          <a:bodyPr wrap="square" lIns="0" tIns="0" rIns="0" bIns="0" rtlCol="0" anchor="ctr"/>
          <a:lstStyle/>
          <a:p>
            <a:pPr algn="l" indent="0" marL="0">
              <a:lnSpc>
                <a:spcPts val="534"/>
              </a:lnSpc>
              <a:buNone/>
            </a:pPr>
            <a:r>
              <a:rPr lang="en-US" sz="570" dirty="0">
                <a:solidFill>
                  <a:srgbClr val="034E48">
                    <a:alpha val="99000"/>
                  </a:srgbClr>
                </a:solidFill>
                <a:latin typeface="Inter" pitchFamily="34" charset="0"/>
                <a:ea typeface="Inter" pitchFamily="34" charset="-122"/>
                <a:cs typeface="Inter" pitchFamily="34" charset="-120"/>
              </a:rPr>
              <a:t>WHAT THIS UNLOCKS</a:t>
            </a:r>
            <a:endParaRPr lang="en-US" sz="570" dirty="0"/>
          </a:p>
        </p:txBody>
      </p:sp>
      <p:sp>
        <p:nvSpPr>
          <p:cNvPr id="20" name="Shape 17"/>
          <p:cNvSpPr/>
          <p:nvPr/>
        </p:nvSpPr>
        <p:spPr>
          <a:xfrm rot="0">
            <a:off x="1828800" y="3338513"/>
            <a:ext cx="1831975" cy="0"/>
          </a:xfrm>
          <a:prstGeom prst="line">
            <a:avLst/>
          </a:prstGeom>
          <a:noFill/>
          <a:ln w="4524">
            <a:solidFill>
              <a:srgbClr val="B4B4B4"/>
            </a:solidFill>
            <a:prstDash val="solid"/>
          </a:ln>
        </p:spPr>
      </p:sp>
      <p:sp>
        <p:nvSpPr>
          <p:cNvPr id="21" name="Text 18"/>
          <p:cNvSpPr/>
          <p:nvPr/>
        </p:nvSpPr>
        <p:spPr>
          <a:xfrm>
            <a:off x="1828800" y="3367088"/>
            <a:ext cx="1831975"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Static Interfaces </a:t>
            </a:r>
            <a:endParaRPr lang="en-US" sz="641" dirty="0"/>
          </a:p>
        </p:txBody>
      </p:sp>
      <p:sp>
        <p:nvSpPr>
          <p:cNvPr id="22" name="Shape 19"/>
          <p:cNvSpPr/>
          <p:nvPr/>
        </p:nvSpPr>
        <p:spPr>
          <a:xfrm rot="0">
            <a:off x="1828800" y="3586163"/>
            <a:ext cx="1831975" cy="0"/>
          </a:xfrm>
          <a:prstGeom prst="line">
            <a:avLst/>
          </a:prstGeom>
          <a:noFill/>
          <a:ln w="4524">
            <a:solidFill>
              <a:srgbClr val="B4B4B4"/>
            </a:solidFill>
            <a:prstDash val="solid"/>
          </a:ln>
        </p:spPr>
      </p:sp>
      <p:sp>
        <p:nvSpPr>
          <p:cNvPr id="23" name="Text 20"/>
          <p:cNvSpPr/>
          <p:nvPr/>
        </p:nvSpPr>
        <p:spPr>
          <a:xfrm>
            <a:off x="1828800" y="3614738"/>
            <a:ext cx="1831975"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Lower manual effort</a:t>
            </a:r>
            <a:endParaRPr lang="en-US" sz="641" dirty="0"/>
          </a:p>
        </p:txBody>
      </p:sp>
      <p:sp>
        <p:nvSpPr>
          <p:cNvPr id="24" name="Shape 21"/>
          <p:cNvSpPr/>
          <p:nvPr/>
        </p:nvSpPr>
        <p:spPr>
          <a:xfrm rot="0">
            <a:off x="1828800" y="3833812"/>
            <a:ext cx="1831975" cy="0"/>
          </a:xfrm>
          <a:prstGeom prst="line">
            <a:avLst/>
          </a:prstGeom>
          <a:noFill/>
          <a:ln w="4524">
            <a:solidFill>
              <a:srgbClr val="B4B4B4"/>
            </a:solidFill>
            <a:prstDash val="solid"/>
          </a:ln>
        </p:spPr>
      </p:sp>
      <p:sp>
        <p:nvSpPr>
          <p:cNvPr id="25" name="Text 22"/>
          <p:cNvSpPr/>
          <p:nvPr/>
        </p:nvSpPr>
        <p:spPr>
          <a:xfrm>
            <a:off x="1828800" y="3862387"/>
            <a:ext cx="1831975" cy="142875"/>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Basic self-service enablement</a:t>
            </a:r>
            <a:endParaRPr lang="en-US" sz="641" dirty="0"/>
          </a:p>
        </p:txBody>
      </p:sp>
      <p:sp>
        <p:nvSpPr>
          <p:cNvPr id="26" name="Shape 23"/>
          <p:cNvSpPr/>
          <p:nvPr/>
        </p:nvSpPr>
        <p:spPr>
          <a:xfrm>
            <a:off x="3660774" y="3167063"/>
            <a:ext cx="1831975" cy="914400"/>
          </a:xfrm>
          <a:prstGeom prst="rect">
            <a:avLst/>
          </a:prstGeom>
          <a:noFill/>
          <a:ln/>
        </p:spPr>
      </p:sp>
      <p:sp>
        <p:nvSpPr>
          <p:cNvPr id="27" name="Text 24"/>
          <p:cNvSpPr/>
          <p:nvPr/>
        </p:nvSpPr>
        <p:spPr>
          <a:xfrm>
            <a:off x="3660774" y="3167063"/>
            <a:ext cx="1831975" cy="142875"/>
          </a:xfrm>
          <a:prstGeom prst="rect">
            <a:avLst/>
          </a:prstGeom>
          <a:noFill/>
          <a:ln/>
        </p:spPr>
        <p:txBody>
          <a:bodyPr wrap="square" lIns="0" tIns="0" rIns="0" bIns="0" rtlCol="0" anchor="ctr"/>
          <a:lstStyle/>
          <a:p>
            <a:pPr algn="l" indent="0" marL="0">
              <a:lnSpc>
                <a:spcPts val="534"/>
              </a:lnSpc>
              <a:buNone/>
            </a:pPr>
            <a:r>
              <a:rPr lang="en-US" sz="570" dirty="0">
                <a:solidFill>
                  <a:srgbClr val="034E48">
                    <a:alpha val="99000"/>
                  </a:srgbClr>
                </a:solidFill>
                <a:latin typeface="Inter" pitchFamily="34" charset="0"/>
                <a:ea typeface="Inter" pitchFamily="34" charset="-122"/>
                <a:cs typeface="Inter" pitchFamily="34" charset="-120"/>
              </a:rPr>
              <a:t>WHAT THIS UNLOCKS</a:t>
            </a:r>
            <a:endParaRPr lang="en-US" sz="570" dirty="0"/>
          </a:p>
        </p:txBody>
      </p:sp>
      <p:sp>
        <p:nvSpPr>
          <p:cNvPr id="28" name="Shape 25"/>
          <p:cNvSpPr/>
          <p:nvPr/>
        </p:nvSpPr>
        <p:spPr>
          <a:xfrm rot="0">
            <a:off x="3660774" y="3338513"/>
            <a:ext cx="1831975" cy="0"/>
          </a:xfrm>
          <a:prstGeom prst="line">
            <a:avLst/>
          </a:prstGeom>
          <a:noFill/>
          <a:ln w="4524">
            <a:solidFill>
              <a:srgbClr val="B4B4B4"/>
            </a:solidFill>
            <a:prstDash val="solid"/>
          </a:ln>
        </p:spPr>
      </p:sp>
      <p:sp>
        <p:nvSpPr>
          <p:cNvPr id="29" name="Text 26"/>
          <p:cNvSpPr/>
          <p:nvPr/>
        </p:nvSpPr>
        <p:spPr>
          <a:xfrm>
            <a:off x="3660774" y="3367088"/>
            <a:ext cx="1831975"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Lower friction across journeys</a:t>
            </a:r>
            <a:endParaRPr lang="en-US" sz="641" dirty="0"/>
          </a:p>
        </p:txBody>
      </p:sp>
      <p:sp>
        <p:nvSpPr>
          <p:cNvPr id="30" name="Shape 27"/>
          <p:cNvSpPr/>
          <p:nvPr/>
        </p:nvSpPr>
        <p:spPr>
          <a:xfrm rot="0">
            <a:off x="3660774" y="3586163"/>
            <a:ext cx="1831975" cy="0"/>
          </a:xfrm>
          <a:prstGeom prst="line">
            <a:avLst/>
          </a:prstGeom>
          <a:noFill/>
          <a:ln w="4524">
            <a:solidFill>
              <a:srgbClr val="B4B4B4"/>
            </a:solidFill>
            <a:prstDash val="solid"/>
          </a:ln>
        </p:spPr>
      </p:sp>
      <p:sp>
        <p:nvSpPr>
          <p:cNvPr id="31" name="Text 28"/>
          <p:cNvSpPr/>
          <p:nvPr/>
        </p:nvSpPr>
        <p:spPr>
          <a:xfrm>
            <a:off x="3660774" y="3614738"/>
            <a:ext cx="1831975" cy="190500"/>
          </a:xfrm>
          <a:prstGeom prst="rect">
            <a:avLst/>
          </a:prstGeom>
          <a:noFill/>
          <a:ln/>
        </p:spPr>
        <p:txBody>
          <a:bodyPr wrap="square" lIns="0" tIns="0" rIns="0" bIns="0" rtlCol="0" anchor="ctr"/>
          <a:lstStyle/>
          <a:p>
            <a:pPr algn="l" indent="0" marL="0">
              <a:lnSpc>
                <a:spcPts val="713"/>
              </a:lnSpc>
              <a:buNone/>
            </a:pPr>
            <a:r>
              <a:rPr lang="en-US" sz="627" dirty="0">
                <a:solidFill>
                  <a:srgbClr val="1D1D1F">
                    <a:alpha val="99000"/>
                  </a:srgbClr>
                </a:solidFill>
                <a:latin typeface="Inter" pitchFamily="34" charset="0"/>
                <a:ea typeface="Inter" pitchFamily="34" charset="-122"/>
                <a:cs typeface="Inter" pitchFamily="34" charset="-120"/>
              </a:rPr>
              <a:t>Higher completion rates</a:t>
            </a:r>
            <a:endParaRPr lang="en-US" sz="627" dirty="0"/>
          </a:p>
        </p:txBody>
      </p:sp>
      <p:sp>
        <p:nvSpPr>
          <p:cNvPr id="32" name="Shape 29"/>
          <p:cNvSpPr/>
          <p:nvPr/>
        </p:nvSpPr>
        <p:spPr>
          <a:xfrm rot="0">
            <a:off x="3660774" y="3833812"/>
            <a:ext cx="1831975" cy="0"/>
          </a:xfrm>
          <a:prstGeom prst="line">
            <a:avLst/>
          </a:prstGeom>
          <a:noFill/>
          <a:ln w="4524">
            <a:solidFill>
              <a:srgbClr val="B4B4B4"/>
            </a:solidFill>
            <a:prstDash val="solid"/>
          </a:ln>
        </p:spPr>
      </p:sp>
      <p:sp>
        <p:nvSpPr>
          <p:cNvPr id="33" name="Text 30"/>
          <p:cNvSpPr/>
          <p:nvPr/>
        </p:nvSpPr>
        <p:spPr>
          <a:xfrm>
            <a:off x="3660774" y="3862387"/>
            <a:ext cx="1831975" cy="190500"/>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Stronger platform adoption </a:t>
            </a:r>
            <a:endParaRPr lang="en-US" sz="641" dirty="0"/>
          </a:p>
        </p:txBody>
      </p:sp>
      <p:sp>
        <p:nvSpPr>
          <p:cNvPr id="34" name="Shape 31"/>
          <p:cNvSpPr/>
          <p:nvPr/>
        </p:nvSpPr>
        <p:spPr>
          <a:xfrm>
            <a:off x="5492751" y="3167063"/>
            <a:ext cx="1831975" cy="914400"/>
          </a:xfrm>
          <a:prstGeom prst="rect">
            <a:avLst/>
          </a:prstGeom>
          <a:noFill/>
          <a:ln/>
        </p:spPr>
      </p:sp>
      <p:sp>
        <p:nvSpPr>
          <p:cNvPr id="35" name="Text 32"/>
          <p:cNvSpPr/>
          <p:nvPr/>
        </p:nvSpPr>
        <p:spPr>
          <a:xfrm>
            <a:off x="5492751" y="3167063"/>
            <a:ext cx="1831975" cy="142875"/>
          </a:xfrm>
          <a:prstGeom prst="rect">
            <a:avLst/>
          </a:prstGeom>
          <a:noFill/>
          <a:ln/>
        </p:spPr>
        <p:txBody>
          <a:bodyPr wrap="square" lIns="0" tIns="0" rIns="0" bIns="0" rtlCol="0" anchor="ctr"/>
          <a:lstStyle/>
          <a:p>
            <a:pPr algn="l" indent="0" marL="0">
              <a:lnSpc>
                <a:spcPts val="534"/>
              </a:lnSpc>
              <a:buNone/>
            </a:pPr>
            <a:r>
              <a:rPr lang="en-US" sz="570" dirty="0">
                <a:solidFill>
                  <a:srgbClr val="034E48">
                    <a:alpha val="99000"/>
                  </a:srgbClr>
                </a:solidFill>
                <a:latin typeface="Inter" pitchFamily="34" charset="0"/>
                <a:ea typeface="Inter" pitchFamily="34" charset="-122"/>
                <a:cs typeface="Inter" pitchFamily="34" charset="-120"/>
              </a:rPr>
              <a:t>WHAT THIS UNLOCKS</a:t>
            </a:r>
            <a:endParaRPr lang="en-US" sz="570" dirty="0"/>
          </a:p>
        </p:txBody>
      </p:sp>
      <p:sp>
        <p:nvSpPr>
          <p:cNvPr id="36" name="Shape 33"/>
          <p:cNvSpPr/>
          <p:nvPr/>
        </p:nvSpPr>
        <p:spPr>
          <a:xfrm rot="0">
            <a:off x="5492751" y="3338513"/>
            <a:ext cx="1831975" cy="0"/>
          </a:xfrm>
          <a:prstGeom prst="line">
            <a:avLst/>
          </a:prstGeom>
          <a:noFill/>
          <a:ln w="4524">
            <a:solidFill>
              <a:srgbClr val="B4B4B4"/>
            </a:solidFill>
            <a:prstDash val="solid"/>
          </a:ln>
        </p:spPr>
      </p:sp>
      <p:sp>
        <p:nvSpPr>
          <p:cNvPr id="37" name="Text 34"/>
          <p:cNvSpPr/>
          <p:nvPr/>
        </p:nvSpPr>
        <p:spPr>
          <a:xfrm>
            <a:off x="5492751" y="3367088"/>
            <a:ext cx="1831975"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Personalized experiences at scale</a:t>
            </a:r>
            <a:endParaRPr lang="en-US" sz="641" dirty="0"/>
          </a:p>
        </p:txBody>
      </p:sp>
      <p:sp>
        <p:nvSpPr>
          <p:cNvPr id="38" name="Shape 35"/>
          <p:cNvSpPr/>
          <p:nvPr/>
        </p:nvSpPr>
        <p:spPr>
          <a:xfrm rot="0">
            <a:off x="5492751" y="3586163"/>
            <a:ext cx="1831975" cy="0"/>
          </a:xfrm>
          <a:prstGeom prst="line">
            <a:avLst/>
          </a:prstGeom>
          <a:noFill/>
          <a:ln w="4524">
            <a:solidFill>
              <a:srgbClr val="B4B4B4"/>
            </a:solidFill>
            <a:prstDash val="solid"/>
          </a:ln>
        </p:spPr>
      </p:sp>
      <p:sp>
        <p:nvSpPr>
          <p:cNvPr id="39" name="Text 36"/>
          <p:cNvSpPr/>
          <p:nvPr/>
        </p:nvSpPr>
        <p:spPr>
          <a:xfrm>
            <a:off x="5492751" y="3614738"/>
            <a:ext cx="1831975"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Better decisions in context</a:t>
            </a:r>
            <a:endParaRPr lang="en-US" sz="641" dirty="0"/>
          </a:p>
        </p:txBody>
      </p:sp>
      <p:sp>
        <p:nvSpPr>
          <p:cNvPr id="40" name="Shape 37"/>
          <p:cNvSpPr/>
          <p:nvPr/>
        </p:nvSpPr>
        <p:spPr>
          <a:xfrm rot="0">
            <a:off x="5492751" y="3833812"/>
            <a:ext cx="1831975" cy="0"/>
          </a:xfrm>
          <a:prstGeom prst="line">
            <a:avLst/>
          </a:prstGeom>
          <a:noFill/>
          <a:ln w="4524">
            <a:solidFill>
              <a:srgbClr val="B4B4B4"/>
            </a:solidFill>
            <a:prstDash val="solid"/>
          </a:ln>
        </p:spPr>
      </p:sp>
      <p:sp>
        <p:nvSpPr>
          <p:cNvPr id="41" name="Text 38"/>
          <p:cNvSpPr/>
          <p:nvPr/>
        </p:nvSpPr>
        <p:spPr>
          <a:xfrm>
            <a:off x="5492751" y="3862387"/>
            <a:ext cx="1831975" cy="219075"/>
          </a:xfrm>
          <a:prstGeom prst="rect">
            <a:avLst/>
          </a:prstGeom>
          <a:noFill/>
          <a:ln/>
        </p:spPr>
        <p:txBody>
          <a:bodyPr wrap="square" lIns="0" tIns="0" rIns="0" bIns="0" rtlCol="0" anchor="t"/>
          <a:lstStyle/>
          <a:p>
            <a:pPr algn="l" indent="0" marL="0">
              <a:lnSpc>
                <a:spcPts val="819"/>
              </a:lnSpc>
              <a:buNone/>
            </a:pPr>
            <a:r>
              <a:rPr lang="en-US" sz="641" dirty="0">
                <a:solidFill>
                  <a:srgbClr val="1D1D1F">
                    <a:alpha val="99000"/>
                  </a:srgbClr>
                </a:solidFill>
                <a:latin typeface="Inter" pitchFamily="34" charset="0"/>
                <a:ea typeface="Inter" pitchFamily="34" charset="-122"/>
                <a:cs typeface="Inter" pitchFamily="34" charset="-120"/>
              </a:rPr>
              <a:t>Continuous performance improvement</a:t>
            </a:r>
            <a:endParaRPr lang="en-US" sz="641" dirty="0"/>
          </a:p>
        </p:txBody>
      </p:sp>
      <p:sp>
        <p:nvSpPr>
          <p:cNvPr id="42" name="Shape 39"/>
          <p:cNvSpPr/>
          <p:nvPr/>
        </p:nvSpPr>
        <p:spPr>
          <a:xfrm>
            <a:off x="7324725" y="3167063"/>
            <a:ext cx="1676400" cy="914400"/>
          </a:xfrm>
          <a:prstGeom prst="rect">
            <a:avLst/>
          </a:prstGeom>
          <a:noFill/>
          <a:ln/>
        </p:spPr>
      </p:sp>
      <p:sp>
        <p:nvSpPr>
          <p:cNvPr id="43" name="Text 40"/>
          <p:cNvSpPr/>
          <p:nvPr/>
        </p:nvSpPr>
        <p:spPr>
          <a:xfrm>
            <a:off x="7324725" y="3167063"/>
            <a:ext cx="1676400" cy="142875"/>
          </a:xfrm>
          <a:prstGeom prst="rect">
            <a:avLst/>
          </a:prstGeom>
          <a:noFill/>
          <a:ln/>
        </p:spPr>
        <p:txBody>
          <a:bodyPr wrap="square" lIns="0" tIns="0" rIns="0" bIns="0" rtlCol="0" anchor="ctr"/>
          <a:lstStyle/>
          <a:p>
            <a:pPr algn="l" indent="0" marL="0">
              <a:lnSpc>
                <a:spcPts val="534"/>
              </a:lnSpc>
              <a:buNone/>
            </a:pPr>
            <a:r>
              <a:rPr lang="en-US" sz="570" dirty="0">
                <a:solidFill>
                  <a:srgbClr val="034E48">
                    <a:alpha val="99000"/>
                  </a:srgbClr>
                </a:solidFill>
                <a:latin typeface="Inter" pitchFamily="34" charset="0"/>
                <a:ea typeface="Inter" pitchFamily="34" charset="-122"/>
                <a:cs typeface="Inter" pitchFamily="34" charset="-120"/>
              </a:rPr>
              <a:t>WHAT THIS UNLOCKS</a:t>
            </a:r>
            <a:endParaRPr lang="en-US" sz="570" dirty="0"/>
          </a:p>
        </p:txBody>
      </p:sp>
      <p:sp>
        <p:nvSpPr>
          <p:cNvPr id="44" name="Shape 41"/>
          <p:cNvSpPr/>
          <p:nvPr/>
        </p:nvSpPr>
        <p:spPr>
          <a:xfrm rot="0">
            <a:off x="7324725" y="3338513"/>
            <a:ext cx="1676400" cy="0"/>
          </a:xfrm>
          <a:prstGeom prst="line">
            <a:avLst/>
          </a:prstGeom>
          <a:noFill/>
          <a:ln w="4524">
            <a:solidFill>
              <a:srgbClr val="B4B4B4"/>
            </a:solidFill>
            <a:prstDash val="solid"/>
          </a:ln>
        </p:spPr>
      </p:sp>
      <p:sp>
        <p:nvSpPr>
          <p:cNvPr id="45" name="Text 42"/>
          <p:cNvSpPr/>
          <p:nvPr/>
        </p:nvSpPr>
        <p:spPr>
          <a:xfrm>
            <a:off x="7324725" y="3367088"/>
            <a:ext cx="1676400"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Lower support and servicing costs</a:t>
            </a:r>
            <a:endParaRPr lang="en-US" sz="641" dirty="0"/>
          </a:p>
        </p:txBody>
      </p:sp>
      <p:sp>
        <p:nvSpPr>
          <p:cNvPr id="46" name="Shape 43"/>
          <p:cNvSpPr/>
          <p:nvPr/>
        </p:nvSpPr>
        <p:spPr>
          <a:xfrm rot="0">
            <a:off x="7324725" y="3586163"/>
            <a:ext cx="1676400" cy="0"/>
          </a:xfrm>
          <a:prstGeom prst="line">
            <a:avLst/>
          </a:prstGeom>
          <a:noFill/>
          <a:ln w="4524">
            <a:solidFill>
              <a:srgbClr val="B4B4B4"/>
            </a:solidFill>
            <a:prstDash val="solid"/>
          </a:ln>
        </p:spPr>
      </p:sp>
      <p:sp>
        <p:nvSpPr>
          <p:cNvPr id="47" name="Text 44"/>
          <p:cNvSpPr/>
          <p:nvPr/>
        </p:nvSpPr>
        <p:spPr>
          <a:xfrm>
            <a:off x="7324725" y="3614738"/>
            <a:ext cx="1676400" cy="190500"/>
          </a:xfrm>
          <a:prstGeom prst="rect">
            <a:avLst/>
          </a:prstGeom>
          <a:noFill/>
          <a:ln/>
        </p:spPr>
        <p:txBody>
          <a:bodyPr wrap="square" lIns="0" tIns="0" rIns="0" bIns="0" rtlCol="0" anchor="ctr"/>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A platform that gets better over time</a:t>
            </a:r>
            <a:endParaRPr lang="en-US" sz="641" dirty="0"/>
          </a:p>
        </p:txBody>
      </p:sp>
      <p:sp>
        <p:nvSpPr>
          <p:cNvPr id="48" name="Shape 45"/>
          <p:cNvSpPr/>
          <p:nvPr/>
        </p:nvSpPr>
        <p:spPr>
          <a:xfrm rot="0">
            <a:off x="7324725" y="3833812"/>
            <a:ext cx="1676400" cy="0"/>
          </a:xfrm>
          <a:prstGeom prst="line">
            <a:avLst/>
          </a:prstGeom>
          <a:noFill/>
          <a:ln w="4524">
            <a:solidFill>
              <a:srgbClr val="B4B4B4"/>
            </a:solidFill>
            <a:prstDash val="solid"/>
          </a:ln>
        </p:spPr>
      </p:sp>
      <p:sp>
        <p:nvSpPr>
          <p:cNvPr id="49" name="Text 46"/>
          <p:cNvSpPr/>
          <p:nvPr/>
        </p:nvSpPr>
        <p:spPr>
          <a:xfrm>
            <a:off x="7324725" y="3862387"/>
            <a:ext cx="1676400" cy="190500"/>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Growing business value over time</a:t>
            </a:r>
            <a:endParaRPr lang="en-US" sz="64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9E4"/>
        </a:solidFill>
      </p:bgPr>
    </p:bg>
    <p:spTree>
      <p:nvGrpSpPr>
        <p:cNvPr id="1" name=""/>
        <p:cNvGrpSpPr/>
        <p:nvPr/>
      </p:nvGrpSpPr>
      <p:grpSpPr>
        <a:xfrm>
          <a:off x="0" y="0"/>
          <a:ext cx="0" cy="0"/>
          <a:chOff x="0" y="0"/>
          <a:chExt cx="0" cy="0"/>
        </a:xfrm>
      </p:grpSpPr>
      <p:sp>
        <p:nvSpPr>
          <p:cNvPr id="2" name="Shape 0"/>
          <p:cNvSpPr/>
          <p:nvPr/>
        </p:nvSpPr>
        <p:spPr>
          <a:xfrm>
            <a:off x="142875" y="2047875"/>
            <a:ext cx="8858250" cy="1485900"/>
          </a:xfrm>
          <a:prstGeom prst="rect">
            <a:avLst/>
          </a:prstGeom>
          <a:noFill/>
          <a:ln/>
        </p:spPr>
      </p:sp>
      <p:sp>
        <p:nvSpPr>
          <p:cNvPr id="3" name="Shape 1"/>
          <p:cNvSpPr/>
          <p:nvPr/>
        </p:nvSpPr>
        <p:spPr>
          <a:xfrm>
            <a:off x="142875" y="2047875"/>
            <a:ext cx="8858250" cy="0"/>
          </a:xfrm>
          <a:prstGeom prst="line">
            <a:avLst/>
          </a:prstGeom>
          <a:noFill/>
          <a:ln w="4524">
            <a:solidFill>
              <a:srgbClr val="B4B4B4"/>
            </a:solidFill>
            <a:prstDash val="solid"/>
          </a:ln>
        </p:spPr>
      </p:sp>
      <p:sp>
        <p:nvSpPr>
          <p:cNvPr id="4" name="Shape 2"/>
          <p:cNvSpPr/>
          <p:nvPr/>
        </p:nvSpPr>
        <p:spPr>
          <a:xfrm>
            <a:off x="142875" y="2047875"/>
            <a:ext cx="8858250" cy="495300"/>
          </a:xfrm>
          <a:prstGeom prst="rect">
            <a:avLst/>
          </a:prstGeom>
          <a:noFill/>
          <a:ln/>
        </p:spPr>
      </p:sp>
      <p:sp>
        <p:nvSpPr>
          <p:cNvPr id="5" name="Shape 3"/>
          <p:cNvSpPr/>
          <p:nvPr/>
        </p:nvSpPr>
        <p:spPr>
          <a:xfrm>
            <a:off x="142875" y="2190750"/>
            <a:ext cx="6605588" cy="209550"/>
          </a:xfrm>
          <a:prstGeom prst="rect">
            <a:avLst/>
          </a:prstGeom>
          <a:noFill/>
          <a:ln/>
        </p:spPr>
      </p:sp>
      <p:sp>
        <p:nvSpPr>
          <p:cNvPr id="6" name="Text 4"/>
          <p:cNvSpPr/>
          <p:nvPr/>
        </p:nvSpPr>
        <p:spPr>
          <a:xfrm>
            <a:off x="142875" y="2190750"/>
            <a:ext cx="1543050" cy="104775"/>
          </a:xfrm>
          <a:prstGeom prst="rect">
            <a:avLst/>
          </a:prstGeom>
          <a:noFill/>
          <a:ln/>
        </p:spPr>
        <p:txBody>
          <a:bodyPr wrap="square" lIns="0" tIns="0" rIns="0" bIns="0" rtlCol="0" anchor="ctr"/>
          <a:lstStyle/>
          <a:p>
            <a:pPr algn="l" indent="0" marL="0">
              <a:lnSpc>
                <a:spcPts val="2138"/>
              </a:lnSpc>
              <a:buNone/>
            </a:pPr>
            <a:r>
              <a:rPr lang="en-US" sz="1069" spc="-53" kern="0" dirty="0">
                <a:solidFill>
                  <a:srgbClr val="6A6A6B">
                    <a:alpha val="99000"/>
                  </a:srgbClr>
                </a:solidFill>
                <a:latin typeface="Inter" pitchFamily="34" charset="0"/>
                <a:ea typeface="Inter" pitchFamily="34" charset="-122"/>
                <a:cs typeface="Inter" pitchFamily="34" charset="-120"/>
              </a:rPr>
              <a:t>3 DAYS</a:t>
            </a:r>
            <a:endParaRPr lang="en-US" sz="1069" dirty="0"/>
          </a:p>
        </p:txBody>
      </p:sp>
      <p:sp>
        <p:nvSpPr>
          <p:cNvPr id="7" name="Text 5"/>
          <p:cNvSpPr/>
          <p:nvPr/>
        </p:nvSpPr>
        <p:spPr>
          <a:xfrm>
            <a:off x="1828800" y="2190750"/>
            <a:ext cx="4919663" cy="209550"/>
          </a:xfrm>
          <a:prstGeom prst="rect">
            <a:avLst/>
          </a:prstGeom>
          <a:noFill/>
          <a:ln/>
        </p:spPr>
        <p:txBody>
          <a:bodyPr wrap="square" lIns="0" tIns="0" rIns="0" bIns="0" rtlCol="0" anchor="ctr"/>
          <a:lstStyle/>
          <a:p>
            <a:pPr algn="l" indent="0" marL="0">
              <a:lnSpc>
                <a:spcPts val="4275"/>
              </a:lnSpc>
              <a:buNone/>
            </a:pPr>
            <a:r>
              <a:rPr lang="en-US" sz="2138" spc="-107" kern="0" dirty="0">
                <a:solidFill>
                  <a:srgbClr val="034E48">
                    <a:alpha val="99000"/>
                  </a:srgbClr>
                </a:solidFill>
                <a:latin typeface="Inter" pitchFamily="34" charset="0"/>
                <a:ea typeface="Inter" pitchFamily="34" charset="-122"/>
                <a:cs typeface="Inter" pitchFamily="34" charset="-120"/>
              </a:rPr>
              <a:t>PRODUCT CONCEPT</a:t>
            </a:r>
            <a:endParaRPr lang="en-US" sz="2138" dirty="0"/>
          </a:p>
        </p:txBody>
      </p:sp>
      <p:sp>
        <p:nvSpPr>
          <p:cNvPr id="8" name="Text 6"/>
          <p:cNvSpPr/>
          <p:nvPr/>
        </p:nvSpPr>
        <p:spPr>
          <a:xfrm>
            <a:off x="6896100" y="2190750"/>
            <a:ext cx="1687711" cy="190500"/>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Stakeholder alignment on scope, objectives, and measurable outcomes.</a:t>
            </a:r>
            <a:endParaRPr lang="en-US" sz="641" dirty="0"/>
          </a:p>
        </p:txBody>
      </p:sp>
      <p:sp>
        <p:nvSpPr>
          <p:cNvPr id="9" name="Shape 7"/>
          <p:cNvSpPr/>
          <p:nvPr/>
        </p:nvSpPr>
        <p:spPr>
          <a:xfrm>
            <a:off x="142875" y="2543175"/>
            <a:ext cx="8858250" cy="0"/>
          </a:xfrm>
          <a:prstGeom prst="line">
            <a:avLst/>
          </a:prstGeom>
          <a:noFill/>
          <a:ln w="4524">
            <a:solidFill>
              <a:srgbClr val="B4B4B4"/>
            </a:solidFill>
            <a:prstDash val="solid"/>
          </a:ln>
        </p:spPr>
      </p:sp>
      <p:sp>
        <p:nvSpPr>
          <p:cNvPr id="10" name="Shape 8"/>
          <p:cNvSpPr/>
          <p:nvPr/>
        </p:nvSpPr>
        <p:spPr>
          <a:xfrm>
            <a:off x="142875" y="2543175"/>
            <a:ext cx="8858250" cy="495300"/>
          </a:xfrm>
          <a:prstGeom prst="rect">
            <a:avLst/>
          </a:prstGeom>
          <a:noFill/>
          <a:ln/>
        </p:spPr>
      </p:sp>
      <p:sp>
        <p:nvSpPr>
          <p:cNvPr id="11" name="Text 9"/>
          <p:cNvSpPr/>
          <p:nvPr/>
        </p:nvSpPr>
        <p:spPr>
          <a:xfrm>
            <a:off x="142875" y="2686050"/>
            <a:ext cx="1538288" cy="104775"/>
          </a:xfrm>
          <a:prstGeom prst="rect">
            <a:avLst/>
          </a:prstGeom>
          <a:noFill/>
          <a:ln/>
        </p:spPr>
        <p:txBody>
          <a:bodyPr wrap="square" lIns="0" tIns="0" rIns="0" bIns="0" rtlCol="0" anchor="ctr"/>
          <a:lstStyle/>
          <a:p>
            <a:pPr algn="l" indent="0" marL="0">
              <a:lnSpc>
                <a:spcPts val="2138"/>
              </a:lnSpc>
              <a:buNone/>
            </a:pPr>
            <a:r>
              <a:rPr lang="en-US" sz="1069" spc="-53" kern="0" dirty="0">
                <a:solidFill>
                  <a:srgbClr val="6A6A6B">
                    <a:alpha val="99000"/>
                  </a:srgbClr>
                </a:solidFill>
                <a:latin typeface="Inter" pitchFamily="34" charset="0"/>
                <a:ea typeface="Inter" pitchFamily="34" charset="-122"/>
                <a:cs typeface="Inter" pitchFamily="34" charset="-120"/>
              </a:rPr>
              <a:t>3 WEEKS</a:t>
            </a:r>
            <a:endParaRPr lang="en-US" sz="1069" dirty="0"/>
          </a:p>
        </p:txBody>
      </p:sp>
      <p:sp>
        <p:nvSpPr>
          <p:cNvPr id="12" name="Text 10"/>
          <p:cNvSpPr/>
          <p:nvPr/>
        </p:nvSpPr>
        <p:spPr>
          <a:xfrm>
            <a:off x="1828800" y="2686050"/>
            <a:ext cx="4919663" cy="209550"/>
          </a:xfrm>
          <a:prstGeom prst="rect">
            <a:avLst/>
          </a:prstGeom>
          <a:noFill/>
          <a:ln/>
        </p:spPr>
        <p:txBody>
          <a:bodyPr wrap="square" lIns="0" tIns="0" rIns="0" bIns="0" rtlCol="0" anchor="ctr"/>
          <a:lstStyle/>
          <a:p>
            <a:pPr algn="l" indent="0" marL="0">
              <a:lnSpc>
                <a:spcPts val="4275"/>
              </a:lnSpc>
              <a:buNone/>
            </a:pPr>
            <a:r>
              <a:rPr lang="en-US" sz="2138" spc="-107" kern="0" dirty="0">
                <a:solidFill>
                  <a:srgbClr val="034E48">
                    <a:alpha val="99000"/>
                  </a:srgbClr>
                </a:solidFill>
                <a:latin typeface="Inter" pitchFamily="34" charset="0"/>
                <a:ea typeface="Inter" pitchFamily="34" charset="-122"/>
                <a:cs typeface="Inter" pitchFamily="34" charset="-120"/>
              </a:rPr>
              <a:t>WORKING PROTOTYPE</a:t>
            </a:r>
            <a:endParaRPr lang="en-US" sz="2138" dirty="0"/>
          </a:p>
        </p:txBody>
      </p:sp>
      <p:sp>
        <p:nvSpPr>
          <p:cNvPr id="13" name="Text 11"/>
          <p:cNvSpPr/>
          <p:nvPr/>
        </p:nvSpPr>
        <p:spPr>
          <a:xfrm>
            <a:off x="6896100" y="2686050"/>
            <a:ext cx="2105025" cy="190500"/>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A clickable prototype validating desirability, feasibility, and business viability.</a:t>
            </a:r>
            <a:endParaRPr lang="en-US" sz="641" dirty="0"/>
          </a:p>
        </p:txBody>
      </p:sp>
      <p:sp>
        <p:nvSpPr>
          <p:cNvPr id="14" name="Shape 12"/>
          <p:cNvSpPr/>
          <p:nvPr/>
        </p:nvSpPr>
        <p:spPr>
          <a:xfrm>
            <a:off x="142875" y="3038475"/>
            <a:ext cx="8858250" cy="0"/>
          </a:xfrm>
          <a:prstGeom prst="line">
            <a:avLst/>
          </a:prstGeom>
          <a:noFill/>
          <a:ln w="4524">
            <a:solidFill>
              <a:srgbClr val="B4B4B4"/>
            </a:solidFill>
            <a:prstDash val="solid"/>
          </a:ln>
        </p:spPr>
      </p:sp>
      <p:sp>
        <p:nvSpPr>
          <p:cNvPr id="15" name="Shape 13"/>
          <p:cNvSpPr/>
          <p:nvPr/>
        </p:nvSpPr>
        <p:spPr>
          <a:xfrm>
            <a:off x="142875" y="3038475"/>
            <a:ext cx="8858250" cy="495300"/>
          </a:xfrm>
          <a:prstGeom prst="rect">
            <a:avLst/>
          </a:prstGeom>
          <a:noFill/>
          <a:ln/>
        </p:spPr>
      </p:sp>
      <p:sp>
        <p:nvSpPr>
          <p:cNvPr id="16" name="Text 14"/>
          <p:cNvSpPr/>
          <p:nvPr/>
        </p:nvSpPr>
        <p:spPr>
          <a:xfrm>
            <a:off x="142875" y="3181350"/>
            <a:ext cx="1543050" cy="104775"/>
          </a:xfrm>
          <a:prstGeom prst="rect">
            <a:avLst/>
          </a:prstGeom>
          <a:noFill/>
          <a:ln/>
        </p:spPr>
        <p:txBody>
          <a:bodyPr wrap="square" lIns="0" tIns="0" rIns="0" bIns="0" rtlCol="0" anchor="ctr"/>
          <a:lstStyle/>
          <a:p>
            <a:pPr algn="l" indent="0" marL="0">
              <a:lnSpc>
                <a:spcPts val="2138"/>
              </a:lnSpc>
              <a:buNone/>
            </a:pPr>
            <a:r>
              <a:rPr lang="en-US" sz="1069" spc="-53" kern="0" dirty="0">
                <a:solidFill>
                  <a:srgbClr val="6A6A6B">
                    <a:alpha val="99000"/>
                  </a:srgbClr>
                </a:solidFill>
                <a:latin typeface="Inter" pitchFamily="34" charset="0"/>
                <a:ea typeface="Inter" pitchFamily="34" charset="-122"/>
                <a:cs typeface="Inter" pitchFamily="34" charset="-120"/>
              </a:rPr>
              <a:t>3 MONTHS</a:t>
            </a:r>
            <a:endParaRPr lang="en-US" sz="1069" dirty="0"/>
          </a:p>
        </p:txBody>
      </p:sp>
      <p:sp>
        <p:nvSpPr>
          <p:cNvPr id="17" name="Text 15"/>
          <p:cNvSpPr/>
          <p:nvPr/>
        </p:nvSpPr>
        <p:spPr>
          <a:xfrm>
            <a:off x="1833563" y="3181350"/>
            <a:ext cx="4919663" cy="209550"/>
          </a:xfrm>
          <a:prstGeom prst="rect">
            <a:avLst/>
          </a:prstGeom>
          <a:noFill/>
          <a:ln/>
        </p:spPr>
        <p:txBody>
          <a:bodyPr wrap="square" lIns="0" tIns="0" rIns="0" bIns="0" rtlCol="0" anchor="ctr"/>
          <a:lstStyle/>
          <a:p>
            <a:pPr algn="l" indent="0" marL="0">
              <a:lnSpc>
                <a:spcPts val="4275"/>
              </a:lnSpc>
              <a:buNone/>
            </a:pPr>
            <a:r>
              <a:rPr lang="en-US" sz="2138" spc="-107" kern="0" dirty="0">
                <a:solidFill>
                  <a:srgbClr val="034E48">
                    <a:alpha val="99000"/>
                  </a:srgbClr>
                </a:solidFill>
                <a:latin typeface="Inter" pitchFamily="34" charset="0"/>
                <a:ea typeface="Inter" pitchFamily="34" charset="-122"/>
                <a:cs typeface="Inter" pitchFamily="34" charset="-120"/>
              </a:rPr>
              <a:t>LIVE MVP</a:t>
            </a:r>
            <a:endParaRPr lang="en-US" sz="2138" dirty="0"/>
          </a:p>
        </p:txBody>
      </p:sp>
      <p:sp>
        <p:nvSpPr>
          <p:cNvPr id="18" name="Text 16"/>
          <p:cNvSpPr/>
          <p:nvPr/>
        </p:nvSpPr>
        <p:spPr>
          <a:xfrm>
            <a:off x="6900863" y="3181350"/>
            <a:ext cx="1687711" cy="190500"/>
          </a:xfrm>
          <a:prstGeom prst="rect">
            <a:avLst/>
          </a:prstGeom>
          <a:noFill/>
          <a:ln/>
        </p:spPr>
        <p:txBody>
          <a:bodyPr wrap="square" lIns="0" tIns="0" rIns="0" bIns="0" rtlCol="0" anchor="t"/>
          <a:lstStyle/>
          <a:p>
            <a:pPr algn="l" indent="0" marL="0">
              <a:lnSpc>
                <a:spcPts val="713"/>
              </a:lnSpc>
              <a:buNone/>
            </a:pPr>
            <a:r>
              <a:rPr lang="en-US" sz="641" dirty="0">
                <a:solidFill>
                  <a:srgbClr val="1D1D1F">
                    <a:alpha val="99000"/>
                  </a:srgbClr>
                </a:solidFill>
                <a:latin typeface="Inter" pitchFamily="34" charset="0"/>
                <a:ea typeface="Inter" pitchFamily="34" charset="-122"/>
                <a:cs typeface="Inter" pitchFamily="34" charset="-120"/>
              </a:rPr>
              <a:t>A shipped product used by real users, followed by continuous optimisation.</a:t>
            </a:r>
            <a:endParaRPr lang="en-US" sz="641" dirty="0"/>
          </a:p>
        </p:txBody>
      </p:sp>
      <p:sp>
        <p:nvSpPr>
          <p:cNvPr id="19" name="Shape 17"/>
          <p:cNvSpPr/>
          <p:nvPr/>
        </p:nvSpPr>
        <p:spPr>
          <a:xfrm>
            <a:off x="142875" y="3533775"/>
            <a:ext cx="8858250" cy="0"/>
          </a:xfrm>
          <a:prstGeom prst="line">
            <a:avLst/>
          </a:prstGeom>
          <a:noFill/>
          <a:ln w="4524">
            <a:solidFill>
              <a:srgbClr val="B4B4B4"/>
            </a:solidFill>
            <a:prstDash val="solid"/>
          </a:ln>
        </p:spPr>
      </p:sp>
      <p:sp>
        <p:nvSpPr>
          <p:cNvPr id="20" name="Shape 18"/>
          <p:cNvSpPr/>
          <p:nvPr/>
        </p:nvSpPr>
        <p:spPr>
          <a:xfrm>
            <a:off x="142875" y="381000"/>
            <a:ext cx="8858250" cy="0"/>
          </a:xfrm>
          <a:prstGeom prst="rect">
            <a:avLst/>
          </a:prstGeom>
          <a:noFill/>
          <a:ln/>
        </p:spPr>
      </p:sp>
      <p:sp>
        <p:nvSpPr>
          <p:cNvPr id="21" name="Shape 19"/>
          <p:cNvSpPr/>
          <p:nvPr/>
        </p:nvSpPr>
        <p:spPr>
          <a:xfrm>
            <a:off x="142875" y="381000"/>
            <a:ext cx="8858250" cy="423863"/>
          </a:xfrm>
          <a:prstGeom prst="rect">
            <a:avLst/>
          </a:prstGeom>
          <a:noFill/>
          <a:ln/>
        </p:spPr>
      </p:sp>
      <p:sp>
        <p:nvSpPr>
          <p:cNvPr id="22" name="Text 20"/>
          <p:cNvSpPr/>
          <p:nvPr/>
        </p:nvSpPr>
        <p:spPr>
          <a:xfrm>
            <a:off x="142875" y="523875"/>
            <a:ext cx="1543050"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3</a:t>
            </a:r>
            <a:endParaRPr lang="en-US" sz="2138" dirty="0"/>
          </a:p>
        </p:txBody>
      </p:sp>
      <p:sp>
        <p:nvSpPr>
          <p:cNvPr id="23" name="Shape 21"/>
          <p:cNvSpPr/>
          <p:nvPr/>
        </p:nvSpPr>
        <p:spPr>
          <a:xfrm>
            <a:off x="1828800" y="523875"/>
            <a:ext cx="7172325" cy="430970"/>
          </a:xfrm>
          <a:prstGeom prst="rect">
            <a:avLst/>
          </a:prstGeom>
          <a:noFill/>
          <a:ln/>
        </p:spPr>
      </p:sp>
      <p:sp>
        <p:nvSpPr>
          <p:cNvPr id="24" name="Text 22"/>
          <p:cNvSpPr/>
          <p:nvPr/>
        </p:nvSpPr>
        <p:spPr>
          <a:xfrm>
            <a:off x="1828800" y="523875"/>
            <a:ext cx="7170539"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1D1D1F">
                    <a:alpha val="99000"/>
                  </a:srgbClr>
                </a:solidFill>
                <a:latin typeface="Inter" pitchFamily="34" charset="0"/>
                <a:ea typeface="Inter" pitchFamily="34" charset="-122"/>
                <a:cs typeface="Inter" pitchFamily="34" charset="-120"/>
              </a:rPr>
              <a:t>HOW WE ARE DIFFERENT</a:t>
            </a:r>
            <a:endParaRPr lang="en-US" sz="2138" dirty="0"/>
          </a:p>
        </p:txBody>
      </p:sp>
      <p:sp>
        <p:nvSpPr>
          <p:cNvPr id="25" name="Text 23"/>
          <p:cNvSpPr/>
          <p:nvPr/>
        </p:nvSpPr>
        <p:spPr>
          <a:xfrm rot="5689">
            <a:off x="1828736" y="862013"/>
            <a:ext cx="7172325" cy="80963"/>
          </a:xfrm>
          <a:prstGeom prst="rect">
            <a:avLst/>
          </a:prstGeom>
          <a:noFill/>
          <a:ln/>
        </p:spPr>
        <p:txBody>
          <a:bodyPr wrap="square" lIns="0" tIns="0" rIns="0" bIns="0" rtlCol="0" anchor="t"/>
          <a:lstStyle/>
          <a:p>
            <a:pPr algn="l" indent="0" marL="0">
              <a:lnSpc>
                <a:spcPts val="1069"/>
              </a:lnSpc>
              <a:buNone/>
            </a:pPr>
            <a:r>
              <a:rPr lang="en-US" sz="855" dirty="0">
                <a:solidFill>
                  <a:srgbClr val="1D1D1F">
                    <a:alpha val="99000"/>
                  </a:srgbClr>
                </a:solidFill>
                <a:latin typeface="Inter" pitchFamily="34" charset="0"/>
                <a:ea typeface="Inter" pitchFamily="34" charset="-122"/>
                <a:cs typeface="Inter" pitchFamily="34" charset="-120"/>
              </a:rPr>
              <a:t>A new product design and development lifecycle</a:t>
            </a:r>
            <a:endParaRPr lang="en-US" sz="855" dirty="0"/>
          </a:p>
        </p:txBody>
      </p:sp>
      <p:pic>
        <p:nvPicPr>
          <p:cNvPr id="26"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27" name="Shape 24"/>
          <p:cNvSpPr/>
          <p:nvPr/>
        </p:nvSpPr>
        <p:spPr>
          <a:xfrm>
            <a:off x="1828800" y="3819525"/>
            <a:ext cx="4533900" cy="457200"/>
          </a:xfrm>
          <a:prstGeom prst="rect">
            <a:avLst/>
          </a:prstGeom>
          <a:noFill/>
          <a:ln/>
        </p:spPr>
      </p:sp>
      <p:sp>
        <p:nvSpPr>
          <p:cNvPr id="28" name="Text 25"/>
          <p:cNvSpPr/>
          <p:nvPr/>
        </p:nvSpPr>
        <p:spPr>
          <a:xfrm>
            <a:off x="1828800" y="3819525"/>
            <a:ext cx="1524000" cy="80963"/>
          </a:xfrm>
          <a:prstGeom prst="rect">
            <a:avLst/>
          </a:prstGeom>
          <a:noFill/>
          <a:ln/>
        </p:spPr>
        <p:txBody>
          <a:bodyPr wrap="square" lIns="0" tIns="0" rIns="0" bIns="0" rtlCol="0" anchor="t"/>
          <a:lstStyle/>
          <a:p>
            <a:pPr algn="l" indent="0" marL="0">
              <a:lnSpc>
                <a:spcPts val="2138"/>
              </a:lnSpc>
              <a:buNone/>
            </a:pPr>
            <a:r>
              <a:rPr lang="en-US" sz="855" spc="-43" kern="0" dirty="0">
                <a:solidFill>
                  <a:srgbClr val="1D1D1F">
                    <a:alpha val="99000"/>
                  </a:srgbClr>
                </a:solidFill>
                <a:latin typeface="Inter" pitchFamily="34" charset="0"/>
                <a:ea typeface="Inter" pitchFamily="34" charset="-122"/>
                <a:cs typeface="Inter" pitchFamily="34" charset="-120"/>
              </a:rPr>
              <a:t>AI-NATIVE TEAM STRUCTURE</a:t>
            </a:r>
            <a:endParaRPr lang="en-US" sz="855" dirty="0"/>
          </a:p>
        </p:txBody>
      </p:sp>
      <p:sp>
        <p:nvSpPr>
          <p:cNvPr id="29" name="Shape 26"/>
          <p:cNvSpPr/>
          <p:nvPr/>
        </p:nvSpPr>
        <p:spPr>
          <a:xfrm>
            <a:off x="1828800" y="4052888"/>
            <a:ext cx="3624263" cy="223838"/>
          </a:xfrm>
          <a:prstGeom prst="rect">
            <a:avLst/>
          </a:prstGeom>
          <a:noFill/>
          <a:ln/>
        </p:spPr>
      </p:sp>
      <p:sp>
        <p:nvSpPr>
          <p:cNvPr id="30" name="Text 27"/>
          <p:cNvSpPr/>
          <p:nvPr/>
        </p:nvSpPr>
        <p:spPr>
          <a:xfrm>
            <a:off x="1828800" y="4052888"/>
            <a:ext cx="3624263" cy="223838"/>
          </a:xfrm>
          <a:prstGeom prst="rect">
            <a:avLst/>
          </a:prstGeom>
          <a:noFill/>
          <a:ln/>
        </p:spPr>
        <p:txBody>
          <a:bodyPr wrap="square" lIns="0" tIns="0" rIns="0" bIns="0" rtlCol="0" anchor="t"/>
          <a:lstStyle/>
          <a:p>
            <a:pPr algn="l" indent="0" marL="0">
              <a:lnSpc>
                <a:spcPts val="1069"/>
              </a:lnSpc>
              <a:buNone/>
            </a:pPr>
            <a:r>
              <a:rPr lang="en-US" sz="855" dirty="0">
                <a:solidFill>
                  <a:srgbClr val="6A6A6B">
                    <a:alpha val="99000"/>
                  </a:srgbClr>
                </a:solidFill>
                <a:latin typeface="Inter" pitchFamily="34" charset="0"/>
                <a:ea typeface="Inter" pitchFamily="34" charset="-122"/>
                <a:cs typeface="Inter" pitchFamily="34" charset="-120"/>
              </a:rPr>
              <a:t>AI-native teams using modern tools to move 40% faster </a:t>
            </a:r>
            <a:endParaRPr lang="en-US" sz="855" dirty="0"/>
          </a:p>
          <a:p>
            <a:pPr algn="l" indent="0" marL="0">
              <a:lnSpc>
                <a:spcPts val="1069"/>
              </a:lnSpc>
              <a:buNone/>
            </a:pPr>
            <a:r>
              <a:rPr lang="en-US" sz="855" dirty="0">
                <a:solidFill>
                  <a:srgbClr val="6A6A6B">
                    <a:alpha val="99000"/>
                  </a:srgbClr>
                </a:solidFill>
                <a:latin typeface="Inter" pitchFamily="34" charset="0"/>
                <a:ea typeface="Inter" pitchFamily="34" charset="-122"/>
                <a:cs typeface="Inter" pitchFamily="34" charset="-120"/>
              </a:rPr>
              <a:t>and build smarter products.</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9E4"/>
        </a:solidFill>
      </p:bgPr>
    </p:bg>
    <p:spTree>
      <p:nvGrpSpPr>
        <p:cNvPr id="1" name=""/>
        <p:cNvGrpSpPr/>
        <p:nvPr/>
      </p:nvGrpSpPr>
      <p:grpSpPr>
        <a:xfrm>
          <a:off x="0" y="0"/>
          <a:ext cx="0" cy="0"/>
          <a:chOff x="0" y="0"/>
          <a:chExt cx="0" cy="0"/>
        </a:xfrm>
      </p:grpSpPr>
      <p:sp>
        <p:nvSpPr>
          <p:cNvPr id="2" name="Shape 0"/>
          <p:cNvSpPr/>
          <p:nvPr/>
        </p:nvSpPr>
        <p:spPr>
          <a:xfrm>
            <a:off x="142875" y="809625"/>
            <a:ext cx="8858250" cy="0"/>
          </a:xfrm>
          <a:prstGeom prst="rect">
            <a:avLst/>
          </a:prstGeom>
          <a:noFill/>
          <a:ln/>
        </p:spPr>
      </p:sp>
      <p:sp>
        <p:nvSpPr>
          <p:cNvPr id="3" name="Text 1"/>
          <p:cNvSpPr/>
          <p:nvPr/>
        </p:nvSpPr>
        <p:spPr>
          <a:xfrm>
            <a:off x="142875" y="523875"/>
            <a:ext cx="981075"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4</a:t>
            </a:r>
            <a:endParaRPr lang="en-US" sz="2138" dirty="0"/>
          </a:p>
        </p:txBody>
      </p:sp>
      <p:sp>
        <p:nvSpPr>
          <p:cNvPr id="4" name="Shape 2"/>
          <p:cNvSpPr/>
          <p:nvPr/>
        </p:nvSpPr>
        <p:spPr>
          <a:xfrm>
            <a:off x="1814513" y="523875"/>
            <a:ext cx="3995738" cy="209550"/>
          </a:xfrm>
          <a:prstGeom prst="rect">
            <a:avLst/>
          </a:prstGeom>
          <a:noFill/>
          <a:ln/>
        </p:spPr>
      </p:sp>
      <p:sp>
        <p:nvSpPr>
          <p:cNvPr id="5" name="Text 3"/>
          <p:cNvSpPr/>
          <p:nvPr/>
        </p:nvSpPr>
        <p:spPr>
          <a:xfrm>
            <a:off x="1814513" y="523875"/>
            <a:ext cx="3795713"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1D1D1F">
                    <a:alpha val="99000"/>
                  </a:srgbClr>
                </a:solidFill>
                <a:latin typeface="Inter" pitchFamily="34" charset="0"/>
                <a:ea typeface="Inter" pitchFamily="34" charset="-122"/>
                <a:cs typeface="Inter" pitchFamily="34" charset="-120"/>
              </a:rPr>
              <a:t>WHAT WE BUILD</a:t>
            </a:r>
            <a:endParaRPr lang="en-US" sz="2138" dirty="0"/>
          </a:p>
        </p:txBody>
      </p:sp>
      <p:pic>
        <p:nvPicPr>
          <p:cNvPr id="6"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7" name="Shape 4"/>
          <p:cNvSpPr/>
          <p:nvPr/>
        </p:nvSpPr>
        <p:spPr>
          <a:xfrm>
            <a:off x="142875" y="1952625"/>
            <a:ext cx="8858250" cy="2600325"/>
          </a:xfrm>
          <a:prstGeom prst="rect">
            <a:avLst/>
          </a:prstGeom>
          <a:noFill/>
          <a:ln/>
        </p:spPr>
      </p:sp>
      <p:pic>
        <p:nvPicPr>
          <p:cNvPr id="8" name="Image 1" descr="preencoded.png">    </p:cNvPr>
          <p:cNvPicPr>
            <a:picLocks noChangeAspect="1"/>
          </p:cNvPicPr>
          <p:nvPr/>
        </p:nvPicPr>
        <p:blipFill>
          <a:blip r:embed="rId2"/>
          <a:srcRect l="0" r="0" t="0" b="0"/>
          <a:stretch/>
        </p:blipFill>
        <p:spPr>
          <a:xfrm>
            <a:off x="142875" y="1952625"/>
            <a:ext cx="8858250" cy="869156"/>
          </a:xfrm>
          <a:prstGeom prst="rect">
            <a:avLst/>
          </a:prstGeom>
        </p:spPr>
      </p:pic>
      <p:pic>
        <p:nvPicPr>
          <p:cNvPr id="9" name="Image 2" descr="preencoded.png">    </p:cNvPr>
          <p:cNvPicPr>
            <a:picLocks noChangeAspect="1"/>
          </p:cNvPicPr>
          <p:nvPr/>
        </p:nvPicPr>
        <p:blipFill>
          <a:blip r:embed="rId3"/>
          <a:srcRect l="0" r="0" t="0" b="0"/>
          <a:stretch/>
        </p:blipFill>
        <p:spPr>
          <a:xfrm>
            <a:off x="142875" y="2819400"/>
            <a:ext cx="8858250" cy="869156"/>
          </a:xfrm>
          <a:prstGeom prst="rect">
            <a:avLst/>
          </a:prstGeom>
        </p:spPr>
      </p:pic>
      <p:pic>
        <p:nvPicPr>
          <p:cNvPr id="10" name="Image 3" descr="preencoded.png">    </p:cNvPr>
          <p:cNvPicPr>
            <a:picLocks noChangeAspect="1"/>
          </p:cNvPicPr>
          <p:nvPr/>
        </p:nvPicPr>
        <p:blipFill>
          <a:blip r:embed="rId4"/>
          <a:srcRect l="0" r="0" t="0" b="0"/>
          <a:stretch/>
        </p:blipFill>
        <p:spPr>
          <a:xfrm>
            <a:off x="142875" y="3686175"/>
            <a:ext cx="8858250" cy="869156"/>
          </a:xfrm>
          <a:prstGeom prst="rect">
            <a:avLst/>
          </a:prstGeom>
        </p:spPr>
      </p:pic>
      <p:sp>
        <p:nvSpPr>
          <p:cNvPr id="11" name="Shape 5"/>
          <p:cNvSpPr/>
          <p:nvPr/>
        </p:nvSpPr>
        <p:spPr>
          <a:xfrm>
            <a:off x="1828800" y="1809750"/>
            <a:ext cx="7172325" cy="142875"/>
          </a:xfrm>
          <a:prstGeom prst="rect">
            <a:avLst/>
          </a:prstGeom>
          <a:noFill/>
          <a:ln/>
        </p:spPr>
      </p:sp>
      <p:pic>
        <p:nvPicPr>
          <p:cNvPr id="12" name="Image 4" descr="preencoded.png">    </p:cNvPr>
          <p:cNvPicPr>
            <a:picLocks noChangeAspect="1"/>
          </p:cNvPicPr>
          <p:nvPr/>
        </p:nvPicPr>
        <p:blipFill>
          <a:blip r:embed="rId5"/>
          <a:srcRect l="0" r="0" t="0" b="0"/>
          <a:stretch/>
        </p:blipFill>
        <p:spPr>
          <a:xfrm>
            <a:off x="1828800" y="1809750"/>
            <a:ext cx="2109788" cy="150939"/>
          </a:xfrm>
          <a:prstGeom prst="rect">
            <a:avLst/>
          </a:prstGeom>
        </p:spPr>
      </p:pic>
      <p:pic>
        <p:nvPicPr>
          <p:cNvPr id="13" name="Image 5" descr="preencoded.png">    </p:cNvPr>
          <p:cNvPicPr>
            <a:picLocks noChangeAspect="1"/>
          </p:cNvPicPr>
          <p:nvPr/>
        </p:nvPicPr>
        <p:blipFill>
          <a:blip r:embed="rId6"/>
          <a:srcRect l="0" r="0" t="0" b="0"/>
          <a:stretch/>
        </p:blipFill>
        <p:spPr>
          <a:xfrm>
            <a:off x="4081463" y="1809750"/>
            <a:ext cx="2671763" cy="150939"/>
          </a:xfrm>
          <a:prstGeom prst="rect">
            <a:avLst/>
          </a:prstGeom>
        </p:spPr>
      </p:pic>
      <p:pic>
        <p:nvPicPr>
          <p:cNvPr id="14" name="Image 6" descr="preencoded.png">    </p:cNvPr>
          <p:cNvPicPr>
            <a:picLocks noChangeAspect="1"/>
          </p:cNvPicPr>
          <p:nvPr/>
        </p:nvPicPr>
        <p:blipFill>
          <a:blip r:embed="rId7"/>
          <a:srcRect l="0" r="0" t="0" b="0"/>
          <a:stretch/>
        </p:blipFill>
        <p:spPr>
          <a:xfrm>
            <a:off x="6896100" y="1809750"/>
            <a:ext cx="1543050" cy="1509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9E4"/>
        </a:solidFill>
      </p:bgPr>
    </p:bg>
    <p:spTree>
      <p:nvGrpSpPr>
        <p:cNvPr id="1" name=""/>
        <p:cNvGrpSpPr/>
        <p:nvPr/>
      </p:nvGrpSpPr>
      <p:grpSpPr>
        <a:xfrm>
          <a:off x="0" y="0"/>
          <a:ext cx="0" cy="0"/>
          <a:chOff x="0" y="0"/>
          <a:chExt cx="0" cy="0"/>
        </a:xfrm>
      </p:grpSpPr>
      <p:sp>
        <p:nvSpPr>
          <p:cNvPr id="2" name="Shape 0"/>
          <p:cNvSpPr/>
          <p:nvPr/>
        </p:nvSpPr>
        <p:spPr>
          <a:xfrm>
            <a:off x="142875" y="381000"/>
            <a:ext cx="8858250" cy="0"/>
          </a:xfrm>
          <a:prstGeom prst="rect">
            <a:avLst/>
          </a:prstGeom>
          <a:noFill/>
          <a:ln/>
        </p:spPr>
      </p:sp>
      <p:sp>
        <p:nvSpPr>
          <p:cNvPr id="3" name="Text 1"/>
          <p:cNvSpPr/>
          <p:nvPr/>
        </p:nvSpPr>
        <p:spPr>
          <a:xfrm>
            <a:off x="142875" y="523875"/>
            <a:ext cx="981075"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5</a:t>
            </a:r>
            <a:endParaRPr lang="en-US" sz="2138" dirty="0"/>
          </a:p>
        </p:txBody>
      </p:sp>
      <p:sp>
        <p:nvSpPr>
          <p:cNvPr id="4" name="Shape 2"/>
          <p:cNvSpPr/>
          <p:nvPr/>
        </p:nvSpPr>
        <p:spPr>
          <a:xfrm>
            <a:off x="1814513" y="523875"/>
            <a:ext cx="3995738" cy="209550"/>
          </a:xfrm>
          <a:prstGeom prst="rect">
            <a:avLst/>
          </a:prstGeom>
          <a:noFill/>
          <a:ln/>
        </p:spPr>
      </p:sp>
      <p:sp>
        <p:nvSpPr>
          <p:cNvPr id="5" name="Text 3"/>
          <p:cNvSpPr/>
          <p:nvPr/>
        </p:nvSpPr>
        <p:spPr>
          <a:xfrm>
            <a:off x="1814513" y="523875"/>
            <a:ext cx="3795713"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1D1D1F">
                    <a:alpha val="99000"/>
                  </a:srgbClr>
                </a:solidFill>
                <a:latin typeface="Inter" pitchFamily="34" charset="0"/>
                <a:ea typeface="Inter" pitchFamily="34" charset="-122"/>
                <a:cs typeface="Inter" pitchFamily="34" charset="-120"/>
              </a:rPr>
              <a:t>GLOBAL PRODUCT EXPERTS </a:t>
            </a:r>
            <a:endParaRPr lang="en-US" sz="2138" dirty="0"/>
          </a:p>
        </p:txBody>
      </p:sp>
      <p:sp>
        <p:nvSpPr>
          <p:cNvPr id="6" name="Shape 4"/>
          <p:cNvSpPr/>
          <p:nvPr/>
        </p:nvSpPr>
        <p:spPr>
          <a:xfrm>
            <a:off x="142875" y="381000"/>
            <a:ext cx="8858250" cy="0"/>
          </a:xfrm>
          <a:prstGeom prst="line">
            <a:avLst/>
          </a:prstGeom>
          <a:noFill/>
          <a:ln w="4524">
            <a:solidFill>
              <a:srgbClr val="B4B4B4"/>
            </a:solidFill>
            <a:prstDash val="solid"/>
          </a:ln>
        </p:spPr>
      </p:sp>
      <p:pic>
        <p:nvPicPr>
          <p:cNvPr id="7"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8" name="Shape 5"/>
          <p:cNvSpPr/>
          <p:nvPr/>
        </p:nvSpPr>
        <p:spPr>
          <a:xfrm rot="14786">
            <a:off x="142875" y="1152525"/>
            <a:ext cx="8858332" cy="0"/>
          </a:xfrm>
          <a:prstGeom prst="rect">
            <a:avLst/>
          </a:prstGeom>
          <a:noFill/>
          <a:ln/>
        </p:spPr>
      </p:sp>
      <p:sp>
        <p:nvSpPr>
          <p:cNvPr id="9" name="Shape 6"/>
          <p:cNvSpPr/>
          <p:nvPr/>
        </p:nvSpPr>
        <p:spPr>
          <a:xfrm rot="14786">
            <a:off x="142875" y="1152525"/>
            <a:ext cx="7186613" cy="0"/>
          </a:xfrm>
          <a:prstGeom prst="line">
            <a:avLst/>
          </a:prstGeom>
          <a:noFill/>
          <a:ln w="4075">
            <a:solidFill>
              <a:srgbClr val="B4B4B4"/>
            </a:solidFill>
            <a:prstDash val="solid"/>
          </a:ln>
        </p:spPr>
      </p:sp>
      <p:sp>
        <p:nvSpPr>
          <p:cNvPr id="10" name="Shape 7"/>
          <p:cNvSpPr/>
          <p:nvPr/>
        </p:nvSpPr>
        <p:spPr>
          <a:xfrm>
            <a:off x="1828800" y="1333500"/>
            <a:ext cx="5476875" cy="3143250"/>
          </a:xfrm>
          <a:prstGeom prst="rect">
            <a:avLst/>
          </a:prstGeom>
          <a:noFill/>
          <a:ln/>
        </p:spPr>
      </p:sp>
      <p:sp>
        <p:nvSpPr>
          <p:cNvPr id="11" name="Shape 8"/>
          <p:cNvSpPr/>
          <p:nvPr/>
        </p:nvSpPr>
        <p:spPr>
          <a:xfrm>
            <a:off x="1828800" y="1333500"/>
            <a:ext cx="2667000" cy="3143250"/>
          </a:xfrm>
          <a:prstGeom prst="rect">
            <a:avLst/>
          </a:prstGeom>
          <a:noFill/>
          <a:ln/>
        </p:spPr>
      </p:sp>
      <p:sp>
        <p:nvSpPr>
          <p:cNvPr id="12" name="Shape 9"/>
          <p:cNvSpPr/>
          <p:nvPr/>
        </p:nvSpPr>
        <p:spPr>
          <a:xfrm>
            <a:off x="1828800" y="1333500"/>
            <a:ext cx="2667000" cy="952500"/>
          </a:xfrm>
          <a:prstGeom prst="rect">
            <a:avLst/>
          </a:prstGeom>
          <a:solidFill>
            <a:srgbClr val="000000">
              <a:alpha val="0"/>
            </a:srgbClr>
          </a:solidFill>
          <a:ln/>
        </p:spPr>
      </p:sp>
      <p:pic>
        <p:nvPicPr>
          <p:cNvPr id="13" name="Image 1" descr="preencoded.png">    </p:cNvPr>
          <p:cNvPicPr>
            <a:picLocks noChangeAspect="1"/>
          </p:cNvPicPr>
          <p:nvPr/>
        </p:nvPicPr>
        <p:blipFill>
          <a:blip r:embed="rId2"/>
          <a:srcRect l="0" r="0" t="0" b="0"/>
          <a:stretch/>
        </p:blipFill>
        <p:spPr>
          <a:xfrm>
            <a:off x="1971675" y="1476375"/>
            <a:ext cx="666750" cy="666750"/>
          </a:xfrm>
          <a:prstGeom prst="rect">
            <a:avLst/>
          </a:prstGeom>
        </p:spPr>
      </p:pic>
      <p:sp>
        <p:nvSpPr>
          <p:cNvPr id="14" name="Shape 10"/>
          <p:cNvSpPr/>
          <p:nvPr/>
        </p:nvSpPr>
        <p:spPr>
          <a:xfrm>
            <a:off x="2790825" y="1669256"/>
            <a:ext cx="1562100" cy="280988"/>
          </a:xfrm>
          <a:prstGeom prst="rect">
            <a:avLst/>
          </a:prstGeom>
          <a:noFill/>
          <a:ln/>
        </p:spPr>
      </p:sp>
      <p:sp>
        <p:nvSpPr>
          <p:cNvPr id="15" name="Shape 11"/>
          <p:cNvSpPr/>
          <p:nvPr/>
        </p:nvSpPr>
        <p:spPr>
          <a:xfrm>
            <a:off x="2790825" y="1669256"/>
            <a:ext cx="1562100" cy="280988"/>
          </a:xfrm>
          <a:prstGeom prst="rect">
            <a:avLst/>
          </a:prstGeom>
          <a:noFill/>
          <a:ln/>
        </p:spPr>
      </p:sp>
      <p:sp>
        <p:nvSpPr>
          <p:cNvPr id="16" name="Text 12"/>
          <p:cNvSpPr/>
          <p:nvPr/>
        </p:nvSpPr>
        <p:spPr>
          <a:xfrm>
            <a:off x="2790825" y="1669256"/>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Ankur Rander</a:t>
            </a:r>
            <a:endParaRPr lang="en-US" sz="855" dirty="0"/>
          </a:p>
        </p:txBody>
      </p:sp>
      <p:sp>
        <p:nvSpPr>
          <p:cNvPr id="17" name="Text 13"/>
          <p:cNvSpPr/>
          <p:nvPr/>
        </p:nvSpPr>
        <p:spPr>
          <a:xfrm>
            <a:off x="2790825" y="1845469"/>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Founder &amp; CEO</a:t>
            </a:r>
            <a:endParaRPr lang="en-US" sz="641" dirty="0"/>
          </a:p>
        </p:txBody>
      </p:sp>
      <p:sp>
        <p:nvSpPr>
          <p:cNvPr id="18" name="Shape 14"/>
          <p:cNvSpPr/>
          <p:nvPr/>
        </p:nvSpPr>
        <p:spPr>
          <a:xfrm>
            <a:off x="1828800" y="2428875"/>
            <a:ext cx="2667000" cy="952500"/>
          </a:xfrm>
          <a:prstGeom prst="rect">
            <a:avLst/>
          </a:prstGeom>
          <a:solidFill>
            <a:srgbClr val="000000">
              <a:alpha val="0"/>
            </a:srgbClr>
          </a:solidFill>
          <a:ln/>
        </p:spPr>
      </p:sp>
      <p:pic>
        <p:nvPicPr>
          <p:cNvPr id="19" name="Image 2" descr="preencoded.png">    </p:cNvPr>
          <p:cNvPicPr>
            <a:picLocks noChangeAspect="1"/>
          </p:cNvPicPr>
          <p:nvPr/>
        </p:nvPicPr>
        <p:blipFill>
          <a:blip r:embed="rId3"/>
          <a:srcRect l="0" r="0" t="0" b="0"/>
          <a:stretch/>
        </p:blipFill>
        <p:spPr>
          <a:xfrm>
            <a:off x="1971675" y="2571750"/>
            <a:ext cx="666750" cy="666750"/>
          </a:xfrm>
          <a:prstGeom prst="rect">
            <a:avLst/>
          </a:prstGeom>
        </p:spPr>
      </p:pic>
      <p:sp>
        <p:nvSpPr>
          <p:cNvPr id="20" name="Shape 15"/>
          <p:cNvSpPr/>
          <p:nvPr/>
        </p:nvSpPr>
        <p:spPr>
          <a:xfrm>
            <a:off x="2790825" y="2764631"/>
            <a:ext cx="1562100" cy="280988"/>
          </a:xfrm>
          <a:prstGeom prst="rect">
            <a:avLst/>
          </a:prstGeom>
          <a:noFill/>
          <a:ln/>
        </p:spPr>
      </p:sp>
      <p:sp>
        <p:nvSpPr>
          <p:cNvPr id="21" name="Shape 16"/>
          <p:cNvSpPr/>
          <p:nvPr/>
        </p:nvSpPr>
        <p:spPr>
          <a:xfrm>
            <a:off x="2790825" y="2764631"/>
            <a:ext cx="1562100" cy="280988"/>
          </a:xfrm>
          <a:prstGeom prst="rect">
            <a:avLst/>
          </a:prstGeom>
          <a:noFill/>
          <a:ln/>
        </p:spPr>
      </p:sp>
      <p:sp>
        <p:nvSpPr>
          <p:cNvPr id="22" name="Text 17"/>
          <p:cNvSpPr/>
          <p:nvPr/>
        </p:nvSpPr>
        <p:spPr>
          <a:xfrm>
            <a:off x="2790825" y="2764631"/>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Jorge Andres Sierra</a:t>
            </a:r>
            <a:endParaRPr lang="en-US" sz="855" dirty="0"/>
          </a:p>
        </p:txBody>
      </p:sp>
      <p:sp>
        <p:nvSpPr>
          <p:cNvPr id="23" name="Text 18"/>
          <p:cNvSpPr/>
          <p:nvPr/>
        </p:nvSpPr>
        <p:spPr>
          <a:xfrm>
            <a:off x="2790825" y="2940844"/>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Product Design Director</a:t>
            </a:r>
            <a:endParaRPr lang="en-US" sz="641" dirty="0"/>
          </a:p>
        </p:txBody>
      </p:sp>
      <p:sp>
        <p:nvSpPr>
          <p:cNvPr id="24" name="Shape 19"/>
          <p:cNvSpPr/>
          <p:nvPr/>
        </p:nvSpPr>
        <p:spPr>
          <a:xfrm>
            <a:off x="1828800" y="3524250"/>
            <a:ext cx="2667000" cy="952500"/>
          </a:xfrm>
          <a:prstGeom prst="rect">
            <a:avLst/>
          </a:prstGeom>
          <a:solidFill>
            <a:srgbClr val="000000">
              <a:alpha val="0"/>
            </a:srgbClr>
          </a:solidFill>
          <a:ln/>
        </p:spPr>
      </p:sp>
      <p:pic>
        <p:nvPicPr>
          <p:cNvPr id="25" name="Image 3" descr="preencoded.png">    </p:cNvPr>
          <p:cNvPicPr>
            <a:picLocks noChangeAspect="1"/>
          </p:cNvPicPr>
          <p:nvPr/>
        </p:nvPicPr>
        <p:blipFill>
          <a:blip r:embed="rId4"/>
          <a:srcRect l="0" r="0" t="0" b="0"/>
          <a:stretch/>
        </p:blipFill>
        <p:spPr>
          <a:xfrm>
            <a:off x="1971675" y="3667125"/>
            <a:ext cx="666750" cy="666750"/>
          </a:xfrm>
          <a:prstGeom prst="rect">
            <a:avLst/>
          </a:prstGeom>
        </p:spPr>
      </p:pic>
      <p:sp>
        <p:nvSpPr>
          <p:cNvPr id="26" name="Shape 20"/>
          <p:cNvSpPr/>
          <p:nvPr/>
        </p:nvSpPr>
        <p:spPr>
          <a:xfrm>
            <a:off x="2790825" y="3860006"/>
            <a:ext cx="1562100" cy="280988"/>
          </a:xfrm>
          <a:prstGeom prst="rect">
            <a:avLst/>
          </a:prstGeom>
          <a:noFill/>
          <a:ln/>
        </p:spPr>
      </p:sp>
      <p:sp>
        <p:nvSpPr>
          <p:cNvPr id="27" name="Shape 21"/>
          <p:cNvSpPr/>
          <p:nvPr/>
        </p:nvSpPr>
        <p:spPr>
          <a:xfrm>
            <a:off x="2790825" y="3860006"/>
            <a:ext cx="1562100" cy="280988"/>
          </a:xfrm>
          <a:prstGeom prst="rect">
            <a:avLst/>
          </a:prstGeom>
          <a:noFill/>
          <a:ln/>
        </p:spPr>
      </p:sp>
      <p:sp>
        <p:nvSpPr>
          <p:cNvPr id="28" name="Text 22"/>
          <p:cNvSpPr/>
          <p:nvPr/>
        </p:nvSpPr>
        <p:spPr>
          <a:xfrm>
            <a:off x="2790825" y="3860006"/>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Alex Solod</a:t>
            </a:r>
            <a:endParaRPr lang="en-US" sz="855" dirty="0"/>
          </a:p>
        </p:txBody>
      </p:sp>
      <p:sp>
        <p:nvSpPr>
          <p:cNvPr id="29" name="Text 23"/>
          <p:cNvSpPr/>
          <p:nvPr/>
        </p:nvSpPr>
        <p:spPr>
          <a:xfrm>
            <a:off x="2790825" y="4036219"/>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Product Design Director</a:t>
            </a:r>
            <a:endParaRPr lang="en-US" sz="641" dirty="0"/>
          </a:p>
        </p:txBody>
      </p:sp>
      <p:sp>
        <p:nvSpPr>
          <p:cNvPr id="30" name="Shape 24"/>
          <p:cNvSpPr/>
          <p:nvPr/>
        </p:nvSpPr>
        <p:spPr>
          <a:xfrm>
            <a:off x="4638675" y="1333500"/>
            <a:ext cx="2667000" cy="3143250"/>
          </a:xfrm>
          <a:prstGeom prst="rect">
            <a:avLst/>
          </a:prstGeom>
          <a:noFill/>
          <a:ln/>
        </p:spPr>
      </p:sp>
      <p:sp>
        <p:nvSpPr>
          <p:cNvPr id="31" name="Shape 25"/>
          <p:cNvSpPr/>
          <p:nvPr/>
        </p:nvSpPr>
        <p:spPr>
          <a:xfrm>
            <a:off x="4638675" y="1333500"/>
            <a:ext cx="2667000" cy="952500"/>
          </a:xfrm>
          <a:prstGeom prst="rect">
            <a:avLst/>
          </a:prstGeom>
          <a:solidFill>
            <a:srgbClr val="000000">
              <a:alpha val="0"/>
            </a:srgbClr>
          </a:solidFill>
          <a:ln/>
        </p:spPr>
      </p:sp>
      <p:pic>
        <p:nvPicPr>
          <p:cNvPr id="32" name="Image 4" descr="preencoded.png">    </p:cNvPr>
          <p:cNvPicPr>
            <a:picLocks noChangeAspect="1"/>
          </p:cNvPicPr>
          <p:nvPr/>
        </p:nvPicPr>
        <p:blipFill>
          <a:blip r:embed="rId5"/>
          <a:srcRect l="0" r="0" t="0" b="0"/>
          <a:stretch/>
        </p:blipFill>
        <p:spPr>
          <a:xfrm>
            <a:off x="4781550" y="1476375"/>
            <a:ext cx="666750" cy="666750"/>
          </a:xfrm>
          <a:prstGeom prst="rect">
            <a:avLst/>
          </a:prstGeom>
        </p:spPr>
      </p:pic>
      <p:sp>
        <p:nvSpPr>
          <p:cNvPr id="33" name="Shape 26"/>
          <p:cNvSpPr/>
          <p:nvPr/>
        </p:nvSpPr>
        <p:spPr>
          <a:xfrm>
            <a:off x="5600700" y="1669256"/>
            <a:ext cx="1562100" cy="280988"/>
          </a:xfrm>
          <a:prstGeom prst="rect">
            <a:avLst/>
          </a:prstGeom>
          <a:noFill/>
          <a:ln/>
        </p:spPr>
      </p:sp>
      <p:sp>
        <p:nvSpPr>
          <p:cNvPr id="34" name="Shape 27"/>
          <p:cNvSpPr/>
          <p:nvPr/>
        </p:nvSpPr>
        <p:spPr>
          <a:xfrm>
            <a:off x="5600700" y="1669256"/>
            <a:ext cx="1562100" cy="280988"/>
          </a:xfrm>
          <a:prstGeom prst="rect">
            <a:avLst/>
          </a:prstGeom>
          <a:noFill/>
          <a:ln/>
        </p:spPr>
      </p:sp>
      <p:sp>
        <p:nvSpPr>
          <p:cNvPr id="35" name="Text 28"/>
          <p:cNvSpPr/>
          <p:nvPr/>
        </p:nvSpPr>
        <p:spPr>
          <a:xfrm>
            <a:off x="5600700" y="1669256"/>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Siddhesh Pednekar</a:t>
            </a:r>
            <a:endParaRPr lang="en-US" sz="855" dirty="0"/>
          </a:p>
        </p:txBody>
      </p:sp>
      <p:sp>
        <p:nvSpPr>
          <p:cNvPr id="36" name="Text 29"/>
          <p:cNvSpPr/>
          <p:nvPr/>
        </p:nvSpPr>
        <p:spPr>
          <a:xfrm>
            <a:off x="5600700" y="1845469"/>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Partner &amp; COO</a:t>
            </a:r>
            <a:endParaRPr lang="en-US" sz="641" dirty="0"/>
          </a:p>
        </p:txBody>
      </p:sp>
      <p:sp>
        <p:nvSpPr>
          <p:cNvPr id="37" name="Shape 30"/>
          <p:cNvSpPr/>
          <p:nvPr/>
        </p:nvSpPr>
        <p:spPr>
          <a:xfrm>
            <a:off x="4638675" y="2428875"/>
            <a:ext cx="2667000" cy="952500"/>
          </a:xfrm>
          <a:prstGeom prst="rect">
            <a:avLst/>
          </a:prstGeom>
          <a:solidFill>
            <a:srgbClr val="000000">
              <a:alpha val="0"/>
            </a:srgbClr>
          </a:solidFill>
          <a:ln/>
        </p:spPr>
      </p:sp>
      <p:pic>
        <p:nvPicPr>
          <p:cNvPr id="38" name="Image 5" descr="preencoded.png">    </p:cNvPr>
          <p:cNvPicPr>
            <a:picLocks noChangeAspect="1"/>
          </p:cNvPicPr>
          <p:nvPr/>
        </p:nvPicPr>
        <p:blipFill>
          <a:blip r:embed="rId6"/>
          <a:srcRect l="0" r="0" t="0" b="0"/>
          <a:stretch/>
        </p:blipFill>
        <p:spPr>
          <a:xfrm>
            <a:off x="4781550" y="2571750"/>
            <a:ext cx="666750" cy="666750"/>
          </a:xfrm>
          <a:prstGeom prst="rect">
            <a:avLst/>
          </a:prstGeom>
        </p:spPr>
      </p:pic>
      <p:sp>
        <p:nvSpPr>
          <p:cNvPr id="39" name="Shape 31"/>
          <p:cNvSpPr/>
          <p:nvPr/>
        </p:nvSpPr>
        <p:spPr>
          <a:xfrm>
            <a:off x="5600700" y="2764631"/>
            <a:ext cx="1562100" cy="280988"/>
          </a:xfrm>
          <a:prstGeom prst="rect">
            <a:avLst/>
          </a:prstGeom>
          <a:noFill/>
          <a:ln/>
        </p:spPr>
      </p:sp>
      <p:sp>
        <p:nvSpPr>
          <p:cNvPr id="40" name="Shape 32"/>
          <p:cNvSpPr/>
          <p:nvPr/>
        </p:nvSpPr>
        <p:spPr>
          <a:xfrm>
            <a:off x="5600700" y="2764631"/>
            <a:ext cx="1562100" cy="280988"/>
          </a:xfrm>
          <a:prstGeom prst="rect">
            <a:avLst/>
          </a:prstGeom>
          <a:noFill/>
          <a:ln/>
        </p:spPr>
      </p:sp>
      <p:sp>
        <p:nvSpPr>
          <p:cNvPr id="41" name="Text 33"/>
          <p:cNvSpPr/>
          <p:nvPr/>
        </p:nvSpPr>
        <p:spPr>
          <a:xfrm>
            <a:off x="5600700" y="2764631"/>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Sugesh Sugathan</a:t>
            </a:r>
            <a:endParaRPr lang="en-US" sz="855" dirty="0"/>
          </a:p>
        </p:txBody>
      </p:sp>
      <p:sp>
        <p:nvSpPr>
          <p:cNvPr id="42" name="Text 34"/>
          <p:cNvSpPr/>
          <p:nvPr/>
        </p:nvSpPr>
        <p:spPr>
          <a:xfrm>
            <a:off x="5600700" y="2940844"/>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Associate Director, Design</a:t>
            </a:r>
            <a:endParaRPr lang="en-US" sz="641" dirty="0"/>
          </a:p>
        </p:txBody>
      </p:sp>
      <p:sp>
        <p:nvSpPr>
          <p:cNvPr id="43" name="Shape 35"/>
          <p:cNvSpPr/>
          <p:nvPr/>
        </p:nvSpPr>
        <p:spPr>
          <a:xfrm>
            <a:off x="4638675" y="3524250"/>
            <a:ext cx="2667000" cy="952500"/>
          </a:xfrm>
          <a:prstGeom prst="rect">
            <a:avLst/>
          </a:prstGeom>
          <a:solidFill>
            <a:srgbClr val="000000">
              <a:alpha val="0"/>
            </a:srgbClr>
          </a:solidFill>
          <a:ln/>
        </p:spPr>
      </p:sp>
      <p:sp>
        <p:nvSpPr>
          <p:cNvPr id="44" name="Shape 36"/>
          <p:cNvSpPr/>
          <p:nvPr/>
        </p:nvSpPr>
        <p:spPr>
          <a:xfrm>
            <a:off x="5600700" y="3860006"/>
            <a:ext cx="1562100" cy="280988"/>
          </a:xfrm>
          <a:prstGeom prst="rect">
            <a:avLst/>
          </a:prstGeom>
          <a:noFill/>
          <a:ln/>
        </p:spPr>
      </p:sp>
      <p:sp>
        <p:nvSpPr>
          <p:cNvPr id="45" name="Shape 37"/>
          <p:cNvSpPr/>
          <p:nvPr/>
        </p:nvSpPr>
        <p:spPr>
          <a:xfrm>
            <a:off x="5600700" y="3860006"/>
            <a:ext cx="1562100" cy="280988"/>
          </a:xfrm>
          <a:prstGeom prst="rect">
            <a:avLst/>
          </a:prstGeom>
          <a:noFill/>
          <a:ln/>
        </p:spPr>
      </p:sp>
      <p:sp>
        <p:nvSpPr>
          <p:cNvPr id="46" name="Text 38"/>
          <p:cNvSpPr/>
          <p:nvPr/>
        </p:nvSpPr>
        <p:spPr>
          <a:xfrm>
            <a:off x="5600700" y="3860006"/>
            <a:ext cx="1562100"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Siddhesh Pednekar</a:t>
            </a:r>
            <a:endParaRPr lang="en-US" sz="855" dirty="0"/>
          </a:p>
        </p:txBody>
      </p:sp>
      <p:sp>
        <p:nvSpPr>
          <p:cNvPr id="47" name="Text 39"/>
          <p:cNvSpPr/>
          <p:nvPr/>
        </p:nvSpPr>
        <p:spPr>
          <a:xfrm>
            <a:off x="5600700" y="4036219"/>
            <a:ext cx="1562100" cy="104775"/>
          </a:xfrm>
          <a:prstGeom prst="rect">
            <a:avLst/>
          </a:prstGeom>
          <a:noFill/>
          <a:ln/>
        </p:spPr>
        <p:txBody>
          <a:bodyPr wrap="square" lIns="0" tIns="0" rIns="0" bIns="0" rtlCol="0" anchor="t"/>
          <a:lstStyle/>
          <a:p>
            <a:pPr algn="l" indent="0" marL="0">
              <a:lnSpc>
                <a:spcPts val="776"/>
              </a:lnSpc>
              <a:buNone/>
            </a:pPr>
            <a:r>
              <a:rPr lang="en-US" sz="641" spc="-32" kern="0" dirty="0">
                <a:solidFill>
                  <a:srgbClr val="FFFFFF">
                    <a:alpha val="99000"/>
                  </a:srgbClr>
                </a:solidFill>
                <a:latin typeface="Inter" pitchFamily="34" charset="0"/>
                <a:ea typeface="Inter" pitchFamily="34" charset="-122"/>
                <a:cs typeface="Inter" pitchFamily="34" charset="-120"/>
              </a:rPr>
              <a:t>Partner &amp; COO</a:t>
            </a:r>
            <a:endParaRPr lang="en-US" sz="64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9E4"/>
        </a:solidFill>
      </p:bgPr>
    </p:bg>
    <p:spTree>
      <p:nvGrpSpPr>
        <p:cNvPr id="1" name=""/>
        <p:cNvGrpSpPr/>
        <p:nvPr/>
      </p:nvGrpSpPr>
      <p:grpSpPr>
        <a:xfrm>
          <a:off x="0" y="0"/>
          <a:ext cx="0" cy="0"/>
          <a:chOff x="0" y="0"/>
          <a:chExt cx="0" cy="0"/>
        </a:xfrm>
      </p:grpSpPr>
      <p:sp>
        <p:nvSpPr>
          <p:cNvPr id="2" name="Shape 0"/>
          <p:cNvSpPr/>
          <p:nvPr/>
        </p:nvSpPr>
        <p:spPr>
          <a:xfrm>
            <a:off x="142875" y="809625"/>
            <a:ext cx="8858250" cy="0"/>
          </a:xfrm>
          <a:prstGeom prst="rect">
            <a:avLst/>
          </a:prstGeom>
          <a:noFill/>
          <a:ln/>
        </p:spPr>
      </p:sp>
      <p:sp>
        <p:nvSpPr>
          <p:cNvPr id="3" name="Text 1"/>
          <p:cNvSpPr/>
          <p:nvPr/>
        </p:nvSpPr>
        <p:spPr>
          <a:xfrm>
            <a:off x="142875" y="523875"/>
            <a:ext cx="981075"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6</a:t>
            </a:r>
            <a:endParaRPr lang="en-US" sz="2138" dirty="0"/>
          </a:p>
        </p:txBody>
      </p:sp>
      <p:sp>
        <p:nvSpPr>
          <p:cNvPr id="4" name="Shape 2"/>
          <p:cNvSpPr/>
          <p:nvPr/>
        </p:nvSpPr>
        <p:spPr>
          <a:xfrm>
            <a:off x="1814513" y="523875"/>
            <a:ext cx="3995738" cy="209550"/>
          </a:xfrm>
          <a:prstGeom prst="rect">
            <a:avLst/>
          </a:prstGeom>
          <a:noFill/>
          <a:ln/>
        </p:spPr>
      </p:sp>
      <p:sp>
        <p:nvSpPr>
          <p:cNvPr id="5" name="Text 3"/>
          <p:cNvSpPr/>
          <p:nvPr/>
        </p:nvSpPr>
        <p:spPr>
          <a:xfrm>
            <a:off x="1814513" y="523875"/>
            <a:ext cx="3795713"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1D1D1F">
                    <a:alpha val="99000"/>
                  </a:srgbClr>
                </a:solidFill>
                <a:latin typeface="Inter" pitchFamily="34" charset="0"/>
                <a:ea typeface="Inter" pitchFamily="34" charset="-122"/>
                <a:cs typeface="Inter" pitchFamily="34" charset="-120"/>
              </a:rPr>
              <a:t>SELECTED CASES</a:t>
            </a:r>
            <a:endParaRPr lang="en-US" sz="2138" dirty="0"/>
          </a:p>
        </p:txBody>
      </p:sp>
      <p:pic>
        <p:nvPicPr>
          <p:cNvPr id="6"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7" name="Shape 4"/>
          <p:cNvSpPr/>
          <p:nvPr/>
        </p:nvSpPr>
        <p:spPr>
          <a:xfrm>
            <a:off x="1828800" y="1119188"/>
            <a:ext cx="7172325" cy="3143250"/>
          </a:xfrm>
          <a:prstGeom prst="rect">
            <a:avLst/>
          </a:prstGeom>
          <a:noFill/>
          <a:ln/>
        </p:spPr>
      </p:sp>
      <p:sp>
        <p:nvSpPr>
          <p:cNvPr id="8" name="Shape 5"/>
          <p:cNvSpPr/>
          <p:nvPr/>
        </p:nvSpPr>
        <p:spPr>
          <a:xfrm>
            <a:off x="1828800" y="1262063"/>
            <a:ext cx="7172325" cy="3000375"/>
          </a:xfrm>
          <a:prstGeom prst="rect">
            <a:avLst/>
          </a:prstGeom>
          <a:noFill/>
          <a:ln/>
        </p:spPr>
      </p:sp>
      <p:sp>
        <p:nvSpPr>
          <p:cNvPr id="9" name="Shape 6"/>
          <p:cNvSpPr/>
          <p:nvPr/>
        </p:nvSpPr>
        <p:spPr>
          <a:xfrm>
            <a:off x="1828800" y="1262063"/>
            <a:ext cx="1547813" cy="1323975"/>
          </a:xfrm>
          <a:prstGeom prst="rect">
            <a:avLst/>
          </a:prstGeom>
          <a:noFill/>
          <a:ln/>
        </p:spPr>
      </p:sp>
      <p:pic>
        <p:nvPicPr>
          <p:cNvPr id="10" name="Image 1" descr="preencoded.png">    </p:cNvPr>
          <p:cNvPicPr>
            <a:picLocks noChangeAspect="1"/>
          </p:cNvPicPr>
          <p:nvPr/>
        </p:nvPicPr>
        <p:blipFill>
          <a:blip r:embed="rId2"/>
          <a:srcRect l="0" r="0" t="0" b="0"/>
          <a:stretch/>
        </p:blipFill>
        <p:spPr>
          <a:xfrm>
            <a:off x="1828800" y="1262063"/>
            <a:ext cx="1547813" cy="981075"/>
          </a:xfrm>
          <a:prstGeom prst="rect">
            <a:avLst/>
          </a:prstGeom>
        </p:spPr>
      </p:pic>
      <p:sp>
        <p:nvSpPr>
          <p:cNvPr id="11" name="Shape 7"/>
          <p:cNvSpPr/>
          <p:nvPr/>
        </p:nvSpPr>
        <p:spPr>
          <a:xfrm>
            <a:off x="1828800" y="2338388"/>
            <a:ext cx="1409700" cy="247650"/>
          </a:xfrm>
          <a:prstGeom prst="rect">
            <a:avLst/>
          </a:prstGeom>
          <a:noFill/>
          <a:ln/>
        </p:spPr>
      </p:sp>
      <p:sp>
        <p:nvSpPr>
          <p:cNvPr id="12" name="Text 8"/>
          <p:cNvSpPr/>
          <p:nvPr/>
        </p:nvSpPr>
        <p:spPr>
          <a:xfrm>
            <a:off x="1828800" y="2338388"/>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Kotak Netbanking</a:t>
            </a:r>
            <a:endParaRPr lang="en-US" sz="855" dirty="0"/>
          </a:p>
        </p:txBody>
      </p:sp>
      <p:sp>
        <p:nvSpPr>
          <p:cNvPr id="13" name="Text 9"/>
          <p:cNvSpPr/>
          <p:nvPr/>
        </p:nvSpPr>
        <p:spPr>
          <a:xfrm>
            <a:off x="1828800" y="2481263"/>
            <a:ext cx="1409700" cy="104775"/>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22% increase in engagement</a:t>
            </a:r>
            <a:endParaRPr lang="en-US" sz="641" dirty="0"/>
          </a:p>
        </p:txBody>
      </p:sp>
      <p:sp>
        <p:nvSpPr>
          <p:cNvPr id="14" name="Shape 10"/>
          <p:cNvSpPr/>
          <p:nvPr/>
        </p:nvSpPr>
        <p:spPr>
          <a:xfrm>
            <a:off x="3519488" y="1262063"/>
            <a:ext cx="1547813" cy="1428750"/>
          </a:xfrm>
          <a:prstGeom prst="rect">
            <a:avLst/>
          </a:prstGeom>
          <a:noFill/>
          <a:ln/>
        </p:spPr>
      </p:sp>
      <p:pic>
        <p:nvPicPr>
          <p:cNvPr id="15" name="Image 2" descr="preencoded.png">    </p:cNvPr>
          <p:cNvPicPr>
            <a:picLocks noChangeAspect="1"/>
          </p:cNvPicPr>
          <p:nvPr/>
        </p:nvPicPr>
        <p:blipFill>
          <a:blip r:embed="rId3"/>
          <a:srcRect l="0" r="0" t="0" b="0"/>
          <a:stretch/>
        </p:blipFill>
        <p:spPr>
          <a:xfrm>
            <a:off x="3519488" y="1262063"/>
            <a:ext cx="1547813" cy="981075"/>
          </a:xfrm>
          <a:prstGeom prst="rect">
            <a:avLst/>
          </a:prstGeom>
        </p:spPr>
      </p:pic>
      <p:sp>
        <p:nvSpPr>
          <p:cNvPr id="16" name="Shape 11"/>
          <p:cNvSpPr/>
          <p:nvPr/>
        </p:nvSpPr>
        <p:spPr>
          <a:xfrm>
            <a:off x="3519488" y="2338388"/>
            <a:ext cx="1409700" cy="352425"/>
          </a:xfrm>
          <a:prstGeom prst="rect">
            <a:avLst/>
          </a:prstGeom>
          <a:noFill/>
          <a:ln/>
        </p:spPr>
      </p:sp>
      <p:sp>
        <p:nvSpPr>
          <p:cNvPr id="17" name="Text 12"/>
          <p:cNvSpPr/>
          <p:nvPr/>
        </p:nvSpPr>
        <p:spPr>
          <a:xfrm>
            <a:off x="3519488" y="2338388"/>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AU Bank (Mobile App)</a:t>
            </a:r>
            <a:endParaRPr lang="en-US" sz="855" dirty="0"/>
          </a:p>
        </p:txBody>
      </p:sp>
      <p:sp>
        <p:nvSpPr>
          <p:cNvPr id="18" name="Text 13"/>
          <p:cNvSpPr/>
          <p:nvPr/>
        </p:nvSpPr>
        <p:spPr>
          <a:xfrm>
            <a:off x="3519488" y="2481263"/>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Reimagining Mobile banking for a universal bank</a:t>
            </a:r>
            <a:endParaRPr lang="en-US" sz="641" dirty="0"/>
          </a:p>
        </p:txBody>
      </p:sp>
      <p:sp>
        <p:nvSpPr>
          <p:cNvPr id="19" name="Shape 14"/>
          <p:cNvSpPr/>
          <p:nvPr/>
        </p:nvSpPr>
        <p:spPr>
          <a:xfrm>
            <a:off x="5210175" y="1262063"/>
            <a:ext cx="1547813" cy="1428750"/>
          </a:xfrm>
          <a:prstGeom prst="rect">
            <a:avLst/>
          </a:prstGeom>
          <a:noFill/>
          <a:ln/>
        </p:spPr>
      </p:sp>
      <p:pic>
        <p:nvPicPr>
          <p:cNvPr id="20" name="Image 3" descr="preencoded.png">    </p:cNvPr>
          <p:cNvPicPr>
            <a:picLocks noChangeAspect="1"/>
          </p:cNvPicPr>
          <p:nvPr/>
        </p:nvPicPr>
        <p:blipFill>
          <a:blip r:embed="rId4"/>
          <a:srcRect l="0" r="0" t="0" b="0"/>
          <a:stretch/>
        </p:blipFill>
        <p:spPr>
          <a:xfrm>
            <a:off x="5210175" y="1262063"/>
            <a:ext cx="1547813" cy="981075"/>
          </a:xfrm>
          <a:prstGeom prst="rect">
            <a:avLst/>
          </a:prstGeom>
        </p:spPr>
      </p:pic>
      <p:sp>
        <p:nvSpPr>
          <p:cNvPr id="21" name="Shape 15"/>
          <p:cNvSpPr/>
          <p:nvPr/>
        </p:nvSpPr>
        <p:spPr>
          <a:xfrm>
            <a:off x="5210175" y="2338388"/>
            <a:ext cx="1409700" cy="352425"/>
          </a:xfrm>
          <a:prstGeom prst="rect">
            <a:avLst/>
          </a:prstGeom>
          <a:noFill/>
          <a:ln/>
        </p:spPr>
      </p:sp>
      <p:sp>
        <p:nvSpPr>
          <p:cNvPr id="22" name="Text 16"/>
          <p:cNvSpPr/>
          <p:nvPr/>
        </p:nvSpPr>
        <p:spPr>
          <a:xfrm>
            <a:off x="5210175" y="2338388"/>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TCX Platform</a:t>
            </a:r>
            <a:endParaRPr lang="en-US" sz="855" dirty="0"/>
          </a:p>
        </p:txBody>
      </p:sp>
      <p:sp>
        <p:nvSpPr>
          <p:cNvPr id="23" name="Text 17"/>
          <p:cNvSpPr/>
          <p:nvPr/>
        </p:nvSpPr>
        <p:spPr>
          <a:xfrm>
            <a:off x="5210175" y="2481263"/>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Simplifying enterprise connectivity at scale.</a:t>
            </a:r>
            <a:endParaRPr lang="en-US" sz="641" dirty="0"/>
          </a:p>
        </p:txBody>
      </p:sp>
      <p:sp>
        <p:nvSpPr>
          <p:cNvPr id="24" name="Shape 18"/>
          <p:cNvSpPr/>
          <p:nvPr/>
        </p:nvSpPr>
        <p:spPr>
          <a:xfrm>
            <a:off x="6900863" y="1262063"/>
            <a:ext cx="1547813" cy="1428750"/>
          </a:xfrm>
          <a:prstGeom prst="rect">
            <a:avLst/>
          </a:prstGeom>
          <a:noFill/>
          <a:ln/>
        </p:spPr>
      </p:sp>
      <p:pic>
        <p:nvPicPr>
          <p:cNvPr id="25" name="Image 4" descr="preencoded.png">    </p:cNvPr>
          <p:cNvPicPr>
            <a:picLocks noChangeAspect="1"/>
          </p:cNvPicPr>
          <p:nvPr/>
        </p:nvPicPr>
        <p:blipFill>
          <a:blip r:embed="rId5"/>
          <a:srcRect l="0" r="0" t="0" b="0"/>
          <a:stretch/>
        </p:blipFill>
        <p:spPr>
          <a:xfrm>
            <a:off x="6900863" y="1262063"/>
            <a:ext cx="1547813" cy="981075"/>
          </a:xfrm>
          <a:prstGeom prst="rect">
            <a:avLst/>
          </a:prstGeom>
        </p:spPr>
      </p:pic>
      <p:sp>
        <p:nvSpPr>
          <p:cNvPr id="26" name="Shape 19"/>
          <p:cNvSpPr/>
          <p:nvPr/>
        </p:nvSpPr>
        <p:spPr>
          <a:xfrm>
            <a:off x="6900863" y="2338388"/>
            <a:ext cx="1409700" cy="352425"/>
          </a:xfrm>
          <a:prstGeom prst="rect">
            <a:avLst/>
          </a:prstGeom>
          <a:noFill/>
          <a:ln/>
        </p:spPr>
      </p:sp>
      <p:sp>
        <p:nvSpPr>
          <p:cNvPr id="27" name="Text 20"/>
          <p:cNvSpPr/>
          <p:nvPr/>
        </p:nvSpPr>
        <p:spPr>
          <a:xfrm>
            <a:off x="6900863" y="2338388"/>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Kokuyo Camlin</a:t>
            </a:r>
            <a:endParaRPr lang="en-US" sz="855" dirty="0"/>
          </a:p>
        </p:txBody>
      </p:sp>
      <p:sp>
        <p:nvSpPr>
          <p:cNvPr id="28" name="Text 21"/>
          <p:cNvSpPr/>
          <p:nvPr/>
        </p:nvSpPr>
        <p:spPr>
          <a:xfrm>
            <a:off x="6900863" y="2481263"/>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2,00,000 artists joined the online artists community we envisioned.</a:t>
            </a:r>
            <a:endParaRPr lang="en-US" sz="641" dirty="0"/>
          </a:p>
        </p:txBody>
      </p:sp>
      <p:sp>
        <p:nvSpPr>
          <p:cNvPr id="29" name="Shape 22"/>
          <p:cNvSpPr/>
          <p:nvPr/>
        </p:nvSpPr>
        <p:spPr>
          <a:xfrm>
            <a:off x="1828800" y="2833688"/>
            <a:ext cx="1547813" cy="1428750"/>
          </a:xfrm>
          <a:prstGeom prst="rect">
            <a:avLst/>
          </a:prstGeom>
          <a:noFill/>
          <a:ln/>
        </p:spPr>
      </p:sp>
      <p:pic>
        <p:nvPicPr>
          <p:cNvPr id="30" name="Image 5" descr="preencoded.png">    </p:cNvPr>
          <p:cNvPicPr>
            <a:picLocks noChangeAspect="1"/>
          </p:cNvPicPr>
          <p:nvPr/>
        </p:nvPicPr>
        <p:blipFill>
          <a:blip r:embed="rId6"/>
          <a:srcRect l="0" r="0" t="0" b="0"/>
          <a:stretch/>
        </p:blipFill>
        <p:spPr>
          <a:xfrm>
            <a:off x="1828800" y="2833688"/>
            <a:ext cx="1547813" cy="981075"/>
          </a:xfrm>
          <a:prstGeom prst="rect">
            <a:avLst/>
          </a:prstGeom>
        </p:spPr>
      </p:pic>
      <p:sp>
        <p:nvSpPr>
          <p:cNvPr id="31" name="Shape 23"/>
          <p:cNvSpPr/>
          <p:nvPr/>
        </p:nvSpPr>
        <p:spPr>
          <a:xfrm>
            <a:off x="1828800" y="3910013"/>
            <a:ext cx="1409700" cy="352425"/>
          </a:xfrm>
          <a:prstGeom prst="rect">
            <a:avLst/>
          </a:prstGeom>
          <a:noFill/>
          <a:ln/>
        </p:spPr>
      </p:sp>
      <p:sp>
        <p:nvSpPr>
          <p:cNvPr id="32" name="Text 24"/>
          <p:cNvSpPr/>
          <p:nvPr/>
        </p:nvSpPr>
        <p:spPr>
          <a:xfrm>
            <a:off x="1828800" y="3910013"/>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Godrej Enterprises</a:t>
            </a:r>
            <a:endParaRPr lang="en-US" sz="855" dirty="0"/>
          </a:p>
        </p:txBody>
      </p:sp>
      <p:sp>
        <p:nvSpPr>
          <p:cNvPr id="33" name="Text 25"/>
          <p:cNvSpPr/>
          <p:nvPr/>
        </p:nvSpPr>
        <p:spPr>
          <a:xfrm>
            <a:off x="1828800" y="4052888"/>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₹189 B worth of business represented through the website.</a:t>
            </a:r>
            <a:endParaRPr lang="en-US" sz="641" dirty="0"/>
          </a:p>
        </p:txBody>
      </p:sp>
      <p:sp>
        <p:nvSpPr>
          <p:cNvPr id="34" name="Shape 26"/>
          <p:cNvSpPr/>
          <p:nvPr/>
        </p:nvSpPr>
        <p:spPr>
          <a:xfrm>
            <a:off x="3519488" y="2833688"/>
            <a:ext cx="1547813" cy="1428750"/>
          </a:xfrm>
          <a:prstGeom prst="rect">
            <a:avLst/>
          </a:prstGeom>
          <a:noFill/>
          <a:ln/>
        </p:spPr>
      </p:sp>
      <p:sp>
        <p:nvSpPr>
          <p:cNvPr id="35" name="Shape 27"/>
          <p:cNvSpPr/>
          <p:nvPr/>
        </p:nvSpPr>
        <p:spPr>
          <a:xfrm>
            <a:off x="3519488" y="2833688"/>
            <a:ext cx="1547813" cy="981075"/>
          </a:xfrm>
          <a:prstGeom prst="rect">
            <a:avLst/>
          </a:prstGeom>
          <a:solidFill>
            <a:srgbClr val="ECE9E4"/>
          </a:solidFill>
          <a:ln/>
        </p:spPr>
      </p:sp>
      <p:pic>
        <p:nvPicPr>
          <p:cNvPr id="36" name="Image 6" descr="preencoded.png">    </p:cNvPr>
          <p:cNvPicPr>
            <a:picLocks noChangeAspect="1"/>
          </p:cNvPicPr>
          <p:nvPr/>
        </p:nvPicPr>
        <p:blipFill>
          <a:blip r:embed="rId7"/>
          <a:srcRect l="0" r="0" t="0" b="0"/>
          <a:stretch/>
        </p:blipFill>
        <p:spPr>
          <a:xfrm>
            <a:off x="3519488" y="2833688"/>
            <a:ext cx="1547813" cy="981075"/>
          </a:xfrm>
          <a:prstGeom prst="rect">
            <a:avLst/>
          </a:prstGeom>
        </p:spPr>
      </p:pic>
      <p:sp>
        <p:nvSpPr>
          <p:cNvPr id="37" name="Shape 28"/>
          <p:cNvSpPr/>
          <p:nvPr/>
        </p:nvSpPr>
        <p:spPr>
          <a:xfrm>
            <a:off x="3476109" y="2833688"/>
            <a:ext cx="1639328" cy="981075"/>
          </a:xfrm>
          <a:prstGeom prst="rect">
            <a:avLst/>
          </a:prstGeom>
          <a:solidFill>
            <a:srgbClr val="E4969E"/>
          </a:solidFill>
          <a:ln/>
        </p:spPr>
      </p:sp>
      <p:sp>
        <p:nvSpPr>
          <p:cNvPr id="38" name="Shape 29"/>
          <p:cNvSpPr/>
          <p:nvPr/>
        </p:nvSpPr>
        <p:spPr>
          <a:xfrm>
            <a:off x="3740925" y="2944657"/>
            <a:ext cx="1109699" cy="761657"/>
          </a:xfrm>
          <a:prstGeom prst="roundRect">
            <a:avLst>
              <a:gd name="adj" fmla="val 5086"/>
            </a:avLst>
          </a:prstGeom>
          <a:solidFill>
            <a:srgbClr val="FFFFFF"/>
          </a:solidFill>
          <a:ln/>
        </p:spPr>
      </p:sp>
      <p:sp>
        <p:nvSpPr>
          <p:cNvPr id="39" name="Shape 30"/>
          <p:cNvSpPr/>
          <p:nvPr/>
        </p:nvSpPr>
        <p:spPr>
          <a:xfrm>
            <a:off x="3718950" y="3814394"/>
            <a:ext cx="1155450" cy="663347"/>
          </a:xfrm>
          <a:prstGeom prst="rect">
            <a:avLst/>
          </a:prstGeom>
          <a:noFill/>
          <a:ln/>
        </p:spPr>
      </p:sp>
      <p:sp>
        <p:nvSpPr>
          <p:cNvPr id="40" name="Shape 31"/>
          <p:cNvSpPr/>
          <p:nvPr/>
        </p:nvSpPr>
        <p:spPr>
          <a:xfrm>
            <a:off x="3718950" y="3814394"/>
            <a:ext cx="1155450" cy="663347"/>
          </a:xfrm>
          <a:prstGeom prst="rect">
            <a:avLst/>
          </a:prstGeom>
          <a:solidFill>
            <a:srgbClr val="F9F9F9"/>
          </a:solidFill>
          <a:ln/>
        </p:spPr>
      </p:sp>
      <p:sp>
        <p:nvSpPr>
          <p:cNvPr id="41" name="Text 32"/>
          <p:cNvSpPr/>
          <p:nvPr/>
        </p:nvSpPr>
        <p:spPr>
          <a:xfrm>
            <a:off x="4193716" y="3868477"/>
            <a:ext cx="197704" cy="14288"/>
          </a:xfrm>
          <a:prstGeom prst="rect">
            <a:avLst/>
          </a:prstGeom>
          <a:noFill/>
          <a:ln/>
        </p:spPr>
        <p:txBody>
          <a:bodyPr wrap="square" lIns="0" tIns="0" rIns="0" bIns="0" rtlCol="0" anchor="t"/>
          <a:lstStyle/>
          <a:p>
            <a:pPr algn="l" indent="0" marL="0">
              <a:lnSpc>
                <a:spcPts val="101"/>
              </a:lnSpc>
              <a:buNone/>
            </a:pPr>
            <a:r>
              <a:rPr lang="en-US" sz="101" spc="15" kern="0" dirty="0">
                <a:solidFill>
                  <a:srgbClr val="000000">
                    <a:alpha val="99000"/>
                  </a:srgbClr>
                </a:solidFill>
                <a:latin typeface="Inter" pitchFamily="34" charset="0"/>
                <a:ea typeface="Inter" pitchFamily="34" charset="-122"/>
                <a:cs typeface="Inter" pitchFamily="34" charset="-120"/>
              </a:rPr>
              <a:t>CHOOSE A COLLECTION</a:t>
            </a:r>
            <a:endParaRPr lang="en-US" sz="101" dirty="0"/>
          </a:p>
        </p:txBody>
      </p:sp>
      <p:sp>
        <p:nvSpPr>
          <p:cNvPr id="42" name="Shape 33"/>
          <p:cNvSpPr/>
          <p:nvPr/>
        </p:nvSpPr>
        <p:spPr>
          <a:xfrm>
            <a:off x="3769412" y="3918053"/>
            <a:ext cx="1104978" cy="505622"/>
          </a:xfrm>
          <a:prstGeom prst="rect">
            <a:avLst/>
          </a:prstGeom>
          <a:noFill/>
          <a:ln/>
        </p:spPr>
      </p:sp>
      <p:sp>
        <p:nvSpPr>
          <p:cNvPr id="43" name="Text 34"/>
          <p:cNvSpPr/>
          <p:nvPr/>
        </p:nvSpPr>
        <p:spPr>
          <a:xfrm>
            <a:off x="3936150" y="4140671"/>
            <a:ext cx="57150" cy="23813"/>
          </a:xfrm>
          <a:prstGeom prst="rect">
            <a:avLst/>
          </a:prstGeom>
          <a:noFill/>
          <a:ln/>
        </p:spPr>
        <p:txBody>
          <a:bodyPr wrap="square" lIns="0" tIns="0" rIns="0" bIns="0" rtlCol="0" anchor="t"/>
          <a:lstStyle/>
          <a:p>
            <a:pPr algn="l" indent="0" marL="0">
              <a:lnSpc>
                <a:spcPts val="163"/>
              </a:lnSpc>
              <a:buNone/>
            </a:pPr>
            <a:r>
              <a:rPr lang="en-US" sz="135" spc="-4" kern="0" dirty="0">
                <a:solidFill>
                  <a:srgbClr val="FFFFFF">
                    <a:alpha val="99000"/>
                  </a:srgbClr>
                </a:solidFill>
                <a:latin typeface="Inter" pitchFamily="34" charset="0"/>
                <a:ea typeface="Inter" pitchFamily="34" charset="-122"/>
                <a:cs typeface="Inter" pitchFamily="34" charset="-120"/>
              </a:rPr>
              <a:t>Top 10</a:t>
            </a:r>
            <a:endParaRPr lang="en-US" sz="135" dirty="0"/>
          </a:p>
        </p:txBody>
      </p:sp>
      <p:sp>
        <p:nvSpPr>
          <p:cNvPr id="44" name="Text 35"/>
          <p:cNvSpPr/>
          <p:nvPr/>
        </p:nvSpPr>
        <p:spPr>
          <a:xfrm>
            <a:off x="3855937" y="4158696"/>
            <a:ext cx="216896" cy="58007"/>
          </a:xfrm>
          <a:prstGeom prst="rect">
            <a:avLst/>
          </a:prstGeom>
          <a:noFill/>
          <a:ln/>
        </p:spPr>
        <p:txBody>
          <a:bodyPr wrap="square" lIns="0" tIns="0" rIns="0" bIns="0" rtlCol="0" anchor="t"/>
          <a:lstStyle/>
          <a:p>
            <a:pPr algn="l" indent="0" marL="0">
              <a:lnSpc>
                <a:spcPts val="433"/>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Luxury Villas</a:t>
            </a:r>
            <a:endParaRPr lang="en-US" sz="337" dirty="0"/>
          </a:p>
        </p:txBody>
      </p:sp>
      <p:sp>
        <p:nvSpPr>
          <p:cNvPr id="45" name="Text 36"/>
          <p:cNvSpPr/>
          <p:nvPr/>
        </p:nvSpPr>
        <p:spPr>
          <a:xfrm>
            <a:off x="4183991"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46" name="Text 37"/>
          <p:cNvSpPr/>
          <p:nvPr/>
        </p:nvSpPr>
        <p:spPr>
          <a:xfrm>
            <a:off x="4183991" y="4277671"/>
            <a:ext cx="70617"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Pool
</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47" name="Text 38"/>
          <p:cNvSpPr/>
          <p:nvPr/>
        </p:nvSpPr>
        <p:spPr>
          <a:xfrm>
            <a:off x="4454379"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48" name="Text 39"/>
          <p:cNvSpPr/>
          <p:nvPr/>
        </p:nvSpPr>
        <p:spPr>
          <a:xfrm>
            <a:off x="4454379" y="4277671"/>
            <a:ext cx="93316"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Beach
</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49" name="Text 40"/>
          <p:cNvSpPr/>
          <p:nvPr/>
        </p:nvSpPr>
        <p:spPr>
          <a:xfrm>
            <a:off x="6802227" y="4112731"/>
            <a:ext cx="57150" cy="23813"/>
          </a:xfrm>
          <a:prstGeom prst="rect">
            <a:avLst/>
          </a:prstGeom>
          <a:noFill/>
          <a:ln/>
        </p:spPr>
        <p:txBody>
          <a:bodyPr wrap="square" lIns="0" tIns="0" rIns="0" bIns="0" rtlCol="0" anchor="t"/>
          <a:lstStyle/>
          <a:p>
            <a:pPr algn="l" indent="0" marL="0">
              <a:lnSpc>
                <a:spcPts val="163"/>
              </a:lnSpc>
              <a:buNone/>
            </a:pPr>
            <a:r>
              <a:rPr lang="en-US" sz="135" spc="-4" kern="0" dirty="0">
                <a:solidFill>
                  <a:srgbClr val="FFFFFF">
                    <a:alpha val="99000"/>
                  </a:srgbClr>
                </a:solidFill>
                <a:latin typeface="Inter" pitchFamily="34" charset="0"/>
                <a:ea typeface="Inter" pitchFamily="34" charset="-122"/>
                <a:cs typeface="Inter" pitchFamily="34" charset="-120"/>
              </a:rPr>
              <a:t>Top 10</a:t>
            </a:r>
            <a:endParaRPr lang="en-US" sz="135" dirty="0"/>
          </a:p>
        </p:txBody>
      </p:sp>
      <p:sp>
        <p:nvSpPr>
          <p:cNvPr id="50" name="Text 41"/>
          <p:cNvSpPr/>
          <p:nvPr/>
        </p:nvSpPr>
        <p:spPr>
          <a:xfrm>
            <a:off x="6657119" y="4139765"/>
            <a:ext cx="345520" cy="90794"/>
          </a:xfrm>
          <a:prstGeom prst="rect">
            <a:avLst/>
          </a:prstGeom>
          <a:noFill/>
          <a:ln/>
        </p:spPr>
        <p:txBody>
          <a:bodyPr wrap="square" lIns="0" tIns="0" rIns="0" bIns="0" rtlCol="0" anchor="t"/>
          <a:lstStyle/>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Culinary Experience </a:t>
            </a:r>
            <a:endParaRPr lang="en-US" sz="337" dirty="0"/>
          </a:p>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Villas</a:t>
            </a:r>
            <a:endParaRPr lang="en-US" sz="337" dirty="0"/>
          </a:p>
        </p:txBody>
      </p:sp>
      <p:sp>
        <p:nvSpPr>
          <p:cNvPr id="51" name="Text 42"/>
          <p:cNvSpPr/>
          <p:nvPr/>
        </p:nvSpPr>
        <p:spPr>
          <a:xfrm>
            <a:off x="5139361"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52" name="Text 43"/>
          <p:cNvSpPr/>
          <p:nvPr/>
        </p:nvSpPr>
        <p:spPr>
          <a:xfrm>
            <a:off x="5409744"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53" name="Text 44"/>
          <p:cNvSpPr/>
          <p:nvPr/>
        </p:nvSpPr>
        <p:spPr>
          <a:xfrm>
            <a:off x="5409744" y="4277671"/>
            <a:ext cx="121058" cy="95838"/>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Celebrity</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Choice</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54" name="Text 45"/>
          <p:cNvSpPr/>
          <p:nvPr/>
        </p:nvSpPr>
        <p:spPr>
          <a:xfrm>
            <a:off x="5139361"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55" name="Text 46"/>
          <p:cNvSpPr/>
          <p:nvPr/>
        </p:nvSpPr>
        <p:spPr>
          <a:xfrm>
            <a:off x="5139361"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56" name="Text 47"/>
          <p:cNvSpPr/>
          <p:nvPr/>
        </p:nvSpPr>
        <p:spPr>
          <a:xfrm>
            <a:off x="5139361" y="4277671"/>
            <a:ext cx="186631"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Kids Friendly 
</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57" name="Text 48"/>
          <p:cNvSpPr/>
          <p:nvPr/>
        </p:nvSpPr>
        <p:spPr>
          <a:xfrm>
            <a:off x="5846871" y="4118139"/>
            <a:ext cx="57150" cy="23813"/>
          </a:xfrm>
          <a:prstGeom prst="rect">
            <a:avLst/>
          </a:prstGeom>
          <a:noFill/>
          <a:ln/>
        </p:spPr>
        <p:txBody>
          <a:bodyPr wrap="square" lIns="0" tIns="0" rIns="0" bIns="0" rtlCol="0" anchor="t"/>
          <a:lstStyle/>
          <a:p>
            <a:pPr algn="l" indent="0" marL="0">
              <a:lnSpc>
                <a:spcPts val="163"/>
              </a:lnSpc>
              <a:buNone/>
            </a:pPr>
            <a:r>
              <a:rPr lang="en-US" sz="135" spc="-4" kern="0" dirty="0">
                <a:solidFill>
                  <a:srgbClr val="FFFFFF">
                    <a:alpha val="99000"/>
                  </a:srgbClr>
                </a:solidFill>
                <a:latin typeface="Inter" pitchFamily="34" charset="0"/>
                <a:ea typeface="Inter" pitchFamily="34" charset="-122"/>
                <a:cs typeface="Inter" pitchFamily="34" charset="-120"/>
              </a:rPr>
              <a:t>Top 10</a:t>
            </a:r>
            <a:endParaRPr lang="en-US" sz="135" dirty="0"/>
          </a:p>
        </p:txBody>
      </p:sp>
      <p:sp>
        <p:nvSpPr>
          <p:cNvPr id="58" name="Text 49"/>
          <p:cNvSpPr/>
          <p:nvPr/>
        </p:nvSpPr>
        <p:spPr>
          <a:xfrm>
            <a:off x="5750430" y="4145173"/>
            <a:ext cx="249682" cy="90794"/>
          </a:xfrm>
          <a:prstGeom prst="rect">
            <a:avLst/>
          </a:prstGeom>
          <a:noFill/>
          <a:ln/>
        </p:spPr>
        <p:txBody>
          <a:bodyPr wrap="square" lIns="0" tIns="0" rIns="0" bIns="0" rtlCol="0" anchor="t"/>
          <a:lstStyle/>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Event-Friendly</a:t>
            </a:r>
            <a:endParaRPr lang="en-US" sz="337" dirty="0"/>
          </a:p>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Villas</a:t>
            </a:r>
            <a:endParaRPr lang="en-US" sz="337" dirty="0"/>
          </a:p>
        </p:txBody>
      </p:sp>
      <p:sp>
        <p:nvSpPr>
          <p:cNvPr id="59" name="Text 50"/>
          <p:cNvSpPr/>
          <p:nvPr/>
        </p:nvSpPr>
        <p:spPr>
          <a:xfrm>
            <a:off x="4891506" y="4117237"/>
            <a:ext cx="57150" cy="23813"/>
          </a:xfrm>
          <a:prstGeom prst="rect">
            <a:avLst/>
          </a:prstGeom>
          <a:noFill/>
          <a:ln/>
        </p:spPr>
        <p:txBody>
          <a:bodyPr wrap="square" lIns="0" tIns="0" rIns="0" bIns="0" rtlCol="0" anchor="t"/>
          <a:lstStyle/>
          <a:p>
            <a:pPr algn="l" indent="0" marL="0">
              <a:lnSpc>
                <a:spcPts val="163"/>
              </a:lnSpc>
              <a:buNone/>
            </a:pPr>
            <a:r>
              <a:rPr lang="en-US" sz="135" spc="-4" kern="0" dirty="0">
                <a:solidFill>
                  <a:srgbClr val="FFFFFF">
                    <a:alpha val="99000"/>
                  </a:srgbClr>
                </a:solidFill>
                <a:latin typeface="Inter" pitchFamily="34" charset="0"/>
                <a:ea typeface="Inter" pitchFamily="34" charset="-122"/>
                <a:cs typeface="Inter" pitchFamily="34" charset="-120"/>
              </a:rPr>
              <a:t>Top 10</a:t>
            </a:r>
            <a:endParaRPr lang="en-US" sz="135" dirty="0"/>
          </a:p>
        </p:txBody>
      </p:sp>
      <p:sp>
        <p:nvSpPr>
          <p:cNvPr id="60" name="Text 51"/>
          <p:cNvSpPr/>
          <p:nvPr/>
        </p:nvSpPr>
        <p:spPr>
          <a:xfrm>
            <a:off x="4822106" y="4135263"/>
            <a:ext cx="194197" cy="90794"/>
          </a:xfrm>
          <a:prstGeom prst="rect">
            <a:avLst/>
          </a:prstGeom>
          <a:noFill/>
          <a:ln/>
        </p:spPr>
        <p:txBody>
          <a:bodyPr wrap="square" lIns="0" tIns="0" rIns="0" bIns="0" rtlCol="0" anchor="t"/>
          <a:lstStyle/>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Impeccable</a:t>
            </a:r>
            <a:endParaRPr lang="en-US" sz="337" dirty="0"/>
          </a:p>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View Villas</a:t>
            </a:r>
            <a:endParaRPr lang="en-US" sz="337" dirty="0"/>
          </a:p>
        </p:txBody>
      </p:sp>
      <p:sp>
        <p:nvSpPr>
          <p:cNvPr id="61" name="Text 52"/>
          <p:cNvSpPr/>
          <p:nvPr/>
        </p:nvSpPr>
        <p:spPr>
          <a:xfrm>
            <a:off x="3936150" y="4139764"/>
            <a:ext cx="57150" cy="23813"/>
          </a:xfrm>
          <a:prstGeom prst="rect">
            <a:avLst/>
          </a:prstGeom>
          <a:noFill/>
          <a:ln/>
        </p:spPr>
        <p:txBody>
          <a:bodyPr wrap="square" lIns="0" tIns="0" rIns="0" bIns="0" rtlCol="0" anchor="t"/>
          <a:lstStyle/>
          <a:p>
            <a:pPr algn="l" indent="0" marL="0">
              <a:lnSpc>
                <a:spcPts val="163"/>
              </a:lnSpc>
              <a:buNone/>
            </a:pPr>
            <a:r>
              <a:rPr lang="en-US" sz="135" spc="-4" kern="0" dirty="0">
                <a:solidFill>
                  <a:srgbClr val="FFFFFF">
                    <a:alpha val="99000"/>
                  </a:srgbClr>
                </a:solidFill>
                <a:latin typeface="Inter" pitchFamily="34" charset="0"/>
                <a:ea typeface="Inter" pitchFamily="34" charset="-122"/>
                <a:cs typeface="Inter" pitchFamily="34" charset="-120"/>
              </a:rPr>
              <a:t>Top 10</a:t>
            </a:r>
            <a:endParaRPr lang="en-US" sz="135" dirty="0"/>
          </a:p>
        </p:txBody>
      </p:sp>
      <p:sp>
        <p:nvSpPr>
          <p:cNvPr id="62" name="Text 53"/>
          <p:cNvSpPr/>
          <p:nvPr/>
        </p:nvSpPr>
        <p:spPr>
          <a:xfrm>
            <a:off x="3855937" y="4157790"/>
            <a:ext cx="216896" cy="45397"/>
          </a:xfrm>
          <a:prstGeom prst="rect">
            <a:avLst/>
          </a:prstGeom>
          <a:noFill/>
          <a:ln/>
        </p:spPr>
        <p:txBody>
          <a:bodyPr wrap="square" lIns="0" tIns="0" rIns="0" bIns="0" rtlCol="0" anchor="t"/>
          <a:lstStyle/>
          <a:p>
            <a:pPr algn="ctr" indent="0" marL="0">
              <a:lnSpc>
                <a:spcPts val="337"/>
              </a:lnSpc>
              <a:buNone/>
            </a:pPr>
            <a:r>
              <a:rPr lang="en-US" sz="337" spc="-17" kern="0" dirty="0">
                <a:solidFill>
                  <a:srgbClr val="FFFFFF">
                    <a:alpha val="99000"/>
                  </a:srgbClr>
                </a:solidFill>
                <a:latin typeface="Larken-Light" pitchFamily="34" charset="0"/>
                <a:ea typeface="Larken-Light" pitchFamily="34" charset="-122"/>
                <a:cs typeface="Larken-Light" pitchFamily="34" charset="-120"/>
              </a:rPr>
              <a:t>Luxury Villas</a:t>
            </a:r>
            <a:endParaRPr lang="en-US" sz="337" dirty="0"/>
          </a:p>
        </p:txBody>
      </p:sp>
      <p:sp>
        <p:nvSpPr>
          <p:cNvPr id="63" name="Text 54"/>
          <p:cNvSpPr/>
          <p:nvPr/>
        </p:nvSpPr>
        <p:spPr>
          <a:xfrm>
            <a:off x="6094726"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64" name="Text 55"/>
          <p:cNvSpPr/>
          <p:nvPr/>
        </p:nvSpPr>
        <p:spPr>
          <a:xfrm>
            <a:off x="6365109"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65" name="Text 56"/>
          <p:cNvSpPr/>
          <p:nvPr/>
        </p:nvSpPr>
        <p:spPr>
          <a:xfrm>
            <a:off x="6365109" y="4277671"/>
            <a:ext cx="136190"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Farm Stay</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66" name="Text 57"/>
          <p:cNvSpPr/>
          <p:nvPr/>
        </p:nvSpPr>
        <p:spPr>
          <a:xfrm>
            <a:off x="6094716" y="4252431"/>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67" name="Text 58"/>
          <p:cNvSpPr/>
          <p:nvPr/>
        </p:nvSpPr>
        <p:spPr>
          <a:xfrm>
            <a:off x="6094716" y="4277661"/>
            <a:ext cx="163933"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Pet-Friendly</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 </a:t>
            </a:r>
            <a:endParaRPr lang="en-US" sz="236" dirty="0"/>
          </a:p>
        </p:txBody>
      </p:sp>
      <p:sp>
        <p:nvSpPr>
          <p:cNvPr id="68" name="Text 59"/>
          <p:cNvSpPr/>
          <p:nvPr/>
        </p:nvSpPr>
        <p:spPr>
          <a:xfrm>
            <a:off x="7050100"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69" name="Text 60"/>
          <p:cNvSpPr/>
          <p:nvPr/>
        </p:nvSpPr>
        <p:spPr>
          <a:xfrm>
            <a:off x="7320483"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70" name="Text 61"/>
          <p:cNvSpPr/>
          <p:nvPr/>
        </p:nvSpPr>
        <p:spPr>
          <a:xfrm>
            <a:off x="7320483" y="4277671"/>
            <a:ext cx="118536" cy="65573"/>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Wedding</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71" name="Text 62"/>
          <p:cNvSpPr/>
          <p:nvPr/>
        </p:nvSpPr>
        <p:spPr>
          <a:xfrm>
            <a:off x="7050100" y="4252436"/>
            <a:ext cx="42863" cy="14288"/>
          </a:xfrm>
          <a:prstGeom prst="rect">
            <a:avLst/>
          </a:prstGeom>
          <a:noFill/>
          <a:ln/>
        </p:spPr>
        <p:txBody>
          <a:bodyPr wrap="square" lIns="0" tIns="0" rIns="0" bIns="0" rtlCol="0" anchor="t"/>
          <a:lstStyle/>
          <a:p>
            <a:pPr algn="l" indent="0" marL="0">
              <a:lnSpc>
                <a:spcPts val="122"/>
              </a:lnSpc>
              <a:buNone/>
            </a:pPr>
            <a:r>
              <a:rPr lang="en-US" sz="101" spc="-3" kern="0" dirty="0">
                <a:solidFill>
                  <a:srgbClr val="1E1E1E">
                    <a:alpha val="99000"/>
                  </a:srgbClr>
                </a:solidFill>
                <a:latin typeface="Inter" pitchFamily="34" charset="0"/>
                <a:ea typeface="Inter" pitchFamily="34" charset="-122"/>
                <a:cs typeface="Inter" pitchFamily="34" charset="-120"/>
              </a:rPr>
              <a:t>Top 10</a:t>
            </a:r>
            <a:endParaRPr lang="en-US" sz="101" dirty="0"/>
          </a:p>
        </p:txBody>
      </p:sp>
      <p:sp>
        <p:nvSpPr>
          <p:cNvPr id="72" name="Text 63"/>
          <p:cNvSpPr/>
          <p:nvPr/>
        </p:nvSpPr>
        <p:spPr>
          <a:xfrm>
            <a:off x="7050100" y="4277667"/>
            <a:ext cx="136190" cy="95838"/>
          </a:xfrm>
          <a:prstGeom prst="rect">
            <a:avLst/>
          </a:prstGeom>
          <a:noFill/>
          <a:ln/>
        </p:spPr>
        <p:txBody>
          <a:bodyPr wrap="square" lIns="0" tIns="0" rIns="0" bIns="0" rtlCol="0" anchor="t"/>
          <a:lstStyle/>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Corporate</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Offsite</a:t>
            </a:r>
            <a:endParaRPr lang="en-US" sz="236" dirty="0"/>
          </a:p>
          <a:p>
            <a:pPr algn="l" indent="0" marL="0">
              <a:lnSpc>
                <a:spcPts val="236"/>
              </a:lnSpc>
              <a:buNone/>
            </a:pPr>
            <a:r>
              <a:rPr lang="en-US" sz="236" dirty="0">
                <a:solidFill>
                  <a:srgbClr val="1E1E1E">
                    <a:alpha val="99000"/>
                  </a:srgbClr>
                </a:solidFill>
                <a:latin typeface="Larken-Light" pitchFamily="34" charset="0"/>
                <a:ea typeface="Larken-Light" pitchFamily="34" charset="-122"/>
                <a:cs typeface="Larken-Light" pitchFamily="34" charset="-120"/>
              </a:rPr>
              <a:t>Villas</a:t>
            </a:r>
            <a:endParaRPr lang="en-US" sz="236" dirty="0"/>
          </a:p>
        </p:txBody>
      </p:sp>
      <p:sp>
        <p:nvSpPr>
          <p:cNvPr id="73" name="Shape 64"/>
          <p:cNvSpPr/>
          <p:nvPr/>
        </p:nvSpPr>
        <p:spPr>
          <a:xfrm>
            <a:off x="3760412" y="4544437"/>
            <a:ext cx="1070812" cy="294731"/>
          </a:xfrm>
          <a:prstGeom prst="rect">
            <a:avLst/>
          </a:prstGeom>
          <a:noFill/>
          <a:ln/>
        </p:spPr>
      </p:sp>
      <p:sp>
        <p:nvSpPr>
          <p:cNvPr id="74" name="Text 65"/>
          <p:cNvSpPr/>
          <p:nvPr/>
        </p:nvSpPr>
        <p:spPr>
          <a:xfrm>
            <a:off x="4224379" y="4544437"/>
            <a:ext cx="142875" cy="14288"/>
          </a:xfrm>
          <a:prstGeom prst="rect">
            <a:avLst/>
          </a:prstGeom>
          <a:noFill/>
          <a:ln/>
        </p:spPr>
        <p:txBody>
          <a:bodyPr wrap="square" lIns="0" tIns="0" rIns="0" bIns="0" rtlCol="0" anchor="t"/>
          <a:lstStyle/>
          <a:p>
            <a:pPr algn="l" indent="0" marL="0">
              <a:lnSpc>
                <a:spcPts val="101"/>
              </a:lnSpc>
              <a:buNone/>
            </a:pPr>
            <a:r>
              <a:rPr lang="en-US" sz="101" spc="15" kern="0" dirty="0">
                <a:solidFill>
                  <a:srgbClr val="000000">
                    <a:alpha val="99000"/>
                  </a:srgbClr>
                </a:solidFill>
                <a:latin typeface="Inter" pitchFamily="34" charset="0"/>
                <a:ea typeface="Inter" pitchFamily="34" charset="-122"/>
                <a:cs typeface="Inter" pitchFamily="34" charset="-120"/>
              </a:rPr>
              <a:t>OFFERS FOR YOU</a:t>
            </a:r>
            <a:endParaRPr lang="en-US" sz="101" dirty="0"/>
          </a:p>
        </p:txBody>
      </p:sp>
      <p:sp>
        <p:nvSpPr>
          <p:cNvPr id="75" name="Shape 66"/>
          <p:cNvSpPr/>
          <p:nvPr/>
        </p:nvSpPr>
        <p:spPr>
          <a:xfrm>
            <a:off x="3760412" y="4594776"/>
            <a:ext cx="1070812" cy="244392"/>
          </a:xfrm>
          <a:prstGeom prst="rect">
            <a:avLst/>
          </a:prstGeom>
          <a:noFill/>
          <a:ln/>
        </p:spPr>
      </p:sp>
      <p:sp>
        <p:nvSpPr>
          <p:cNvPr id="76" name="Shape 67"/>
          <p:cNvSpPr/>
          <p:nvPr/>
        </p:nvSpPr>
        <p:spPr>
          <a:xfrm>
            <a:off x="3760412" y="4594776"/>
            <a:ext cx="1070812" cy="181302"/>
          </a:xfrm>
          <a:prstGeom prst="rect">
            <a:avLst/>
          </a:prstGeom>
          <a:noFill/>
          <a:ln/>
        </p:spPr>
      </p:sp>
      <p:sp>
        <p:nvSpPr>
          <p:cNvPr id="77" name="Shape 68"/>
          <p:cNvSpPr/>
          <p:nvPr/>
        </p:nvSpPr>
        <p:spPr>
          <a:xfrm>
            <a:off x="3760412" y="4594776"/>
            <a:ext cx="1070812" cy="147186"/>
          </a:xfrm>
          <a:prstGeom prst="rect">
            <a:avLst/>
          </a:prstGeom>
          <a:noFill/>
          <a:ln/>
        </p:spPr>
      </p:sp>
      <p:sp>
        <p:nvSpPr>
          <p:cNvPr id="78" name="Shape 69"/>
          <p:cNvSpPr/>
          <p:nvPr/>
        </p:nvSpPr>
        <p:spPr>
          <a:xfrm>
            <a:off x="3768523" y="4594977"/>
            <a:ext cx="243430" cy="146132"/>
          </a:xfrm>
          <a:prstGeom prst="roundRect">
            <a:avLst>
              <a:gd name="adj" fmla="val 11842"/>
            </a:avLst>
          </a:prstGeom>
          <a:noFill/>
          <a:ln w="856">
            <a:solidFill>
              <a:srgbClr val="E9A0A7"/>
            </a:solidFill>
            <a:prstDash val="dash"/>
          </a:ln>
        </p:spPr>
      </p:sp>
      <p:sp>
        <p:nvSpPr>
          <p:cNvPr id="79" name="Shape 70"/>
          <p:cNvSpPr/>
          <p:nvPr/>
        </p:nvSpPr>
        <p:spPr>
          <a:xfrm>
            <a:off x="3786550" y="4613002"/>
            <a:ext cx="53176" cy="53176"/>
          </a:xfrm>
          <a:prstGeom prst="rect">
            <a:avLst/>
          </a:prstGeom>
          <a:noFill/>
          <a:ln/>
        </p:spPr>
      </p:sp>
      <p:sp>
        <p:nvSpPr>
          <p:cNvPr id="80" name="Shape 71"/>
          <p:cNvSpPr/>
          <p:nvPr/>
        </p:nvSpPr>
        <p:spPr>
          <a:xfrm>
            <a:off x="3786550" y="4679697"/>
            <a:ext cx="207379" cy="43385"/>
          </a:xfrm>
          <a:prstGeom prst="rect">
            <a:avLst/>
          </a:prstGeom>
          <a:noFill/>
          <a:ln/>
        </p:spPr>
      </p:sp>
      <p:sp>
        <p:nvSpPr>
          <p:cNvPr id="81" name="Text 72"/>
          <p:cNvSpPr/>
          <p:nvPr/>
        </p:nvSpPr>
        <p:spPr>
          <a:xfrm>
            <a:off x="3786550" y="4679697"/>
            <a:ext cx="152400" cy="19050"/>
          </a:xfrm>
          <a:prstGeom prst="rect">
            <a:avLst/>
          </a:prstGeom>
          <a:noFill/>
          <a:ln/>
        </p:spPr>
        <p:txBody>
          <a:bodyPr wrap="square" lIns="0" tIns="0" rIns="0" bIns="0" rtlCol="0" anchor="t"/>
          <a:lstStyle/>
          <a:p>
            <a:pPr algn="l" indent="0" marL="0">
              <a:lnSpc>
                <a:spcPts val="135"/>
              </a:lnSpc>
              <a:buNone/>
            </a:pPr>
            <a:r>
              <a:rPr lang="en-US" sz="135" spc="-4" kern="0" dirty="0">
                <a:solidFill>
                  <a:srgbClr val="000000">
                    <a:alpha val="99000"/>
                  </a:srgbClr>
                </a:solidFill>
                <a:latin typeface="Inter" pitchFamily="34" charset="0"/>
                <a:ea typeface="Inter" pitchFamily="34" charset="-122"/>
                <a:cs typeface="Inter" pitchFamily="34" charset="-120"/>
              </a:rPr>
              <a:t>Stay for 2 Pay for 1</a:t>
            </a:r>
            <a:endParaRPr lang="en-US" sz="135" dirty="0"/>
          </a:p>
        </p:txBody>
      </p:sp>
      <p:sp>
        <p:nvSpPr>
          <p:cNvPr id="82" name="Shape 73"/>
          <p:cNvSpPr/>
          <p:nvPr/>
        </p:nvSpPr>
        <p:spPr>
          <a:xfrm>
            <a:off x="3786550" y="4712267"/>
            <a:ext cx="207379" cy="10815"/>
          </a:xfrm>
          <a:prstGeom prst="rect">
            <a:avLst/>
          </a:prstGeom>
          <a:noFill/>
          <a:ln/>
        </p:spPr>
      </p:sp>
      <p:sp>
        <p:nvSpPr>
          <p:cNvPr id="83" name="Text 74"/>
          <p:cNvSpPr/>
          <p:nvPr/>
        </p:nvSpPr>
        <p:spPr>
          <a:xfrm>
            <a:off x="3786550" y="4712267"/>
            <a:ext cx="152400" cy="9525"/>
          </a:xfrm>
          <a:prstGeom prst="rect">
            <a:avLst/>
          </a:prstGeom>
          <a:noFill/>
          <a:ln/>
        </p:spPr>
        <p:txBody>
          <a:bodyPr wrap="square" lIns="0" tIns="0" rIns="0" bIns="0" rtlCol="0" anchor="t"/>
          <a:lstStyle/>
          <a:p>
            <a:pPr algn="l" indent="0" marL="0">
              <a:lnSpc>
                <a:spcPts val="88"/>
              </a:lnSpc>
              <a:buNone/>
            </a:pPr>
            <a:r>
              <a:rPr lang="en-US" sz="88" dirty="0">
                <a:solidFill>
                  <a:srgbClr val="000000">
                    <a:alpha val="99000"/>
                  </a:srgbClr>
                </a:solidFill>
                <a:latin typeface="Inter" pitchFamily="34" charset="0"/>
                <a:ea typeface="Inter" pitchFamily="34" charset="-122"/>
                <a:cs typeface="Inter" pitchFamily="34" charset="-120"/>
              </a:rPr>
              <a:t>Expires December 31, 2022</a:t>
            </a:r>
            <a:endParaRPr lang="en-US" sz="88" dirty="0"/>
          </a:p>
        </p:txBody>
      </p:sp>
      <p:sp>
        <p:nvSpPr>
          <p:cNvPr id="84" name="Shape 75"/>
          <p:cNvSpPr/>
          <p:nvPr/>
        </p:nvSpPr>
        <p:spPr>
          <a:xfrm>
            <a:off x="4038912" y="4594977"/>
            <a:ext cx="243430" cy="146832"/>
          </a:xfrm>
          <a:prstGeom prst="roundRect">
            <a:avLst>
              <a:gd name="adj" fmla="val 11785"/>
            </a:avLst>
          </a:prstGeom>
          <a:noFill/>
          <a:ln w="856">
            <a:solidFill>
              <a:srgbClr val="9CCDFB"/>
            </a:solidFill>
            <a:prstDash val="dash"/>
          </a:ln>
        </p:spPr>
      </p:sp>
      <p:sp>
        <p:nvSpPr>
          <p:cNvPr id="85" name="Shape 76"/>
          <p:cNvSpPr/>
          <p:nvPr/>
        </p:nvSpPr>
        <p:spPr>
          <a:xfrm>
            <a:off x="4056938" y="4613002"/>
            <a:ext cx="54197" cy="53876"/>
          </a:xfrm>
          <a:prstGeom prst="rect">
            <a:avLst/>
          </a:prstGeom>
          <a:noFill/>
          <a:ln/>
        </p:spPr>
      </p:sp>
      <p:sp>
        <p:nvSpPr>
          <p:cNvPr id="86" name="Shape 77"/>
          <p:cNvSpPr/>
          <p:nvPr/>
        </p:nvSpPr>
        <p:spPr>
          <a:xfrm>
            <a:off x="4056938" y="4680397"/>
            <a:ext cx="207379" cy="43385"/>
          </a:xfrm>
          <a:prstGeom prst="rect">
            <a:avLst/>
          </a:prstGeom>
          <a:noFill/>
          <a:ln/>
        </p:spPr>
      </p:sp>
      <p:sp>
        <p:nvSpPr>
          <p:cNvPr id="87" name="Text 78"/>
          <p:cNvSpPr/>
          <p:nvPr/>
        </p:nvSpPr>
        <p:spPr>
          <a:xfrm>
            <a:off x="4056938" y="4680397"/>
            <a:ext cx="166688" cy="19050"/>
          </a:xfrm>
          <a:prstGeom prst="rect">
            <a:avLst/>
          </a:prstGeom>
          <a:noFill/>
          <a:ln/>
        </p:spPr>
        <p:txBody>
          <a:bodyPr wrap="square" lIns="0" tIns="0" rIns="0" bIns="0" rtlCol="0" anchor="t"/>
          <a:lstStyle/>
          <a:p>
            <a:pPr algn="l" indent="0" marL="0">
              <a:lnSpc>
                <a:spcPts val="135"/>
              </a:lnSpc>
              <a:buNone/>
            </a:pPr>
            <a:r>
              <a:rPr lang="en-US" sz="135" spc="-4" kern="0" dirty="0">
                <a:solidFill>
                  <a:srgbClr val="000000">
                    <a:alpha val="99000"/>
                  </a:srgbClr>
                </a:solidFill>
                <a:latin typeface="Inter" pitchFamily="34" charset="0"/>
                <a:ea typeface="Inter" pitchFamily="34" charset="-122"/>
                <a:cs typeface="Inter" pitchFamily="34" charset="-120"/>
              </a:rPr>
              <a:t>First night at ₹4,999!</a:t>
            </a:r>
            <a:endParaRPr lang="en-US" sz="135" dirty="0"/>
          </a:p>
        </p:txBody>
      </p:sp>
      <p:sp>
        <p:nvSpPr>
          <p:cNvPr id="88" name="Shape 79"/>
          <p:cNvSpPr/>
          <p:nvPr/>
        </p:nvSpPr>
        <p:spPr>
          <a:xfrm>
            <a:off x="4056938" y="4712967"/>
            <a:ext cx="207379" cy="10815"/>
          </a:xfrm>
          <a:prstGeom prst="rect">
            <a:avLst/>
          </a:prstGeom>
          <a:noFill/>
          <a:ln/>
        </p:spPr>
      </p:sp>
      <p:sp>
        <p:nvSpPr>
          <p:cNvPr id="89" name="Text 80"/>
          <p:cNvSpPr/>
          <p:nvPr/>
        </p:nvSpPr>
        <p:spPr>
          <a:xfrm>
            <a:off x="4056938" y="4712967"/>
            <a:ext cx="152400" cy="9525"/>
          </a:xfrm>
          <a:prstGeom prst="rect">
            <a:avLst/>
          </a:prstGeom>
          <a:noFill/>
          <a:ln/>
        </p:spPr>
        <p:txBody>
          <a:bodyPr wrap="square" lIns="0" tIns="0" rIns="0" bIns="0" rtlCol="0" anchor="t"/>
          <a:lstStyle/>
          <a:p>
            <a:pPr algn="l" indent="0" marL="0">
              <a:lnSpc>
                <a:spcPts val="88"/>
              </a:lnSpc>
              <a:buNone/>
            </a:pPr>
            <a:r>
              <a:rPr lang="en-US" sz="88" dirty="0">
                <a:solidFill>
                  <a:srgbClr val="000000">
                    <a:alpha val="99000"/>
                  </a:srgbClr>
                </a:solidFill>
                <a:latin typeface="Inter" pitchFamily="34" charset="0"/>
                <a:ea typeface="Inter" pitchFamily="34" charset="-122"/>
                <a:cs typeface="Inter" pitchFamily="34" charset="-120"/>
              </a:rPr>
              <a:t>Expires December 31, 2022</a:t>
            </a:r>
            <a:endParaRPr lang="en-US" sz="88" dirty="0"/>
          </a:p>
        </p:txBody>
      </p:sp>
      <p:sp>
        <p:nvSpPr>
          <p:cNvPr id="90" name="Shape 81"/>
          <p:cNvSpPr/>
          <p:nvPr/>
        </p:nvSpPr>
        <p:spPr>
          <a:xfrm>
            <a:off x="4579683" y="4594776"/>
            <a:ext cx="243430" cy="147186"/>
          </a:xfrm>
          <a:prstGeom prst="roundRect">
            <a:avLst>
              <a:gd name="adj" fmla="val 11757"/>
            </a:avLst>
          </a:prstGeom>
          <a:noFill/>
          <a:ln w="856">
            <a:solidFill>
              <a:srgbClr val="E9A0A7"/>
            </a:solidFill>
            <a:prstDash val="dash"/>
          </a:ln>
        </p:spPr>
      </p:sp>
      <p:sp>
        <p:nvSpPr>
          <p:cNvPr id="91" name="Shape 82"/>
          <p:cNvSpPr/>
          <p:nvPr/>
        </p:nvSpPr>
        <p:spPr>
          <a:xfrm>
            <a:off x="4597710" y="4612802"/>
            <a:ext cx="54018" cy="54230"/>
          </a:xfrm>
          <a:prstGeom prst="rect">
            <a:avLst/>
          </a:prstGeom>
          <a:noFill/>
          <a:ln/>
        </p:spPr>
      </p:sp>
      <p:sp>
        <p:nvSpPr>
          <p:cNvPr id="92" name="Shape 83"/>
          <p:cNvSpPr/>
          <p:nvPr/>
        </p:nvSpPr>
        <p:spPr>
          <a:xfrm>
            <a:off x="4597710" y="4680552"/>
            <a:ext cx="207379" cy="43385"/>
          </a:xfrm>
          <a:prstGeom prst="rect">
            <a:avLst/>
          </a:prstGeom>
          <a:noFill/>
          <a:ln/>
        </p:spPr>
      </p:sp>
      <p:sp>
        <p:nvSpPr>
          <p:cNvPr id="93" name="Text 84"/>
          <p:cNvSpPr/>
          <p:nvPr/>
        </p:nvSpPr>
        <p:spPr>
          <a:xfrm>
            <a:off x="4597710" y="4680552"/>
            <a:ext cx="176213" cy="19050"/>
          </a:xfrm>
          <a:prstGeom prst="rect">
            <a:avLst/>
          </a:prstGeom>
          <a:noFill/>
          <a:ln/>
        </p:spPr>
        <p:txBody>
          <a:bodyPr wrap="square" lIns="0" tIns="0" rIns="0" bIns="0" rtlCol="0" anchor="t"/>
          <a:lstStyle/>
          <a:p>
            <a:pPr algn="l" indent="0" marL="0">
              <a:lnSpc>
                <a:spcPts val="135"/>
              </a:lnSpc>
              <a:buNone/>
            </a:pPr>
            <a:r>
              <a:rPr lang="en-US" sz="135" spc="-4" kern="0" dirty="0">
                <a:solidFill>
                  <a:srgbClr val="000000">
                    <a:alpha val="99000"/>
                  </a:srgbClr>
                </a:solidFill>
                <a:latin typeface="Inter" pitchFamily="34" charset="0"/>
                <a:ea typeface="Inter" pitchFamily="34" charset="-122"/>
                <a:cs typeface="Inter" pitchFamily="34" charset="-120"/>
              </a:rPr>
              <a:t>Weekdays at 30% off!</a:t>
            </a:r>
            <a:endParaRPr lang="en-US" sz="135" dirty="0"/>
          </a:p>
        </p:txBody>
      </p:sp>
      <p:sp>
        <p:nvSpPr>
          <p:cNvPr id="94" name="Shape 85"/>
          <p:cNvSpPr/>
          <p:nvPr/>
        </p:nvSpPr>
        <p:spPr>
          <a:xfrm>
            <a:off x="4597710" y="4713121"/>
            <a:ext cx="207379" cy="10815"/>
          </a:xfrm>
          <a:prstGeom prst="rect">
            <a:avLst/>
          </a:prstGeom>
          <a:noFill/>
          <a:ln/>
        </p:spPr>
      </p:sp>
      <p:sp>
        <p:nvSpPr>
          <p:cNvPr id="95" name="Text 86"/>
          <p:cNvSpPr/>
          <p:nvPr/>
        </p:nvSpPr>
        <p:spPr>
          <a:xfrm>
            <a:off x="4597710" y="4713121"/>
            <a:ext cx="152400" cy="9525"/>
          </a:xfrm>
          <a:prstGeom prst="rect">
            <a:avLst/>
          </a:prstGeom>
          <a:noFill/>
          <a:ln/>
        </p:spPr>
        <p:txBody>
          <a:bodyPr wrap="square" lIns="0" tIns="0" rIns="0" bIns="0" rtlCol="0" anchor="t"/>
          <a:lstStyle/>
          <a:p>
            <a:pPr algn="l" indent="0" marL="0">
              <a:lnSpc>
                <a:spcPts val="88"/>
              </a:lnSpc>
              <a:buNone/>
            </a:pPr>
            <a:r>
              <a:rPr lang="en-US" sz="88" dirty="0">
                <a:solidFill>
                  <a:srgbClr val="000000">
                    <a:alpha val="99000"/>
                  </a:srgbClr>
                </a:solidFill>
                <a:latin typeface="Inter" pitchFamily="34" charset="0"/>
                <a:ea typeface="Inter" pitchFamily="34" charset="-122"/>
                <a:cs typeface="Inter" pitchFamily="34" charset="-120"/>
              </a:rPr>
              <a:t>Expires December 31, 2022</a:t>
            </a:r>
            <a:endParaRPr lang="en-US" sz="88" dirty="0"/>
          </a:p>
        </p:txBody>
      </p:sp>
      <p:sp>
        <p:nvSpPr>
          <p:cNvPr id="96" name="Shape 87"/>
          <p:cNvSpPr/>
          <p:nvPr/>
        </p:nvSpPr>
        <p:spPr>
          <a:xfrm>
            <a:off x="4309300" y="4594776"/>
            <a:ext cx="243430" cy="146897"/>
          </a:xfrm>
          <a:prstGeom prst="roundRect">
            <a:avLst>
              <a:gd name="adj" fmla="val 11780"/>
            </a:avLst>
          </a:prstGeom>
          <a:noFill/>
          <a:ln w="856">
            <a:solidFill>
              <a:srgbClr val="FDD5A9"/>
            </a:solidFill>
            <a:prstDash val="dash"/>
          </a:ln>
        </p:spPr>
      </p:sp>
      <p:sp>
        <p:nvSpPr>
          <p:cNvPr id="97" name="Shape 88"/>
          <p:cNvSpPr/>
          <p:nvPr/>
        </p:nvSpPr>
        <p:spPr>
          <a:xfrm>
            <a:off x="4327327" y="4612802"/>
            <a:ext cx="54448" cy="53941"/>
          </a:xfrm>
          <a:prstGeom prst="rect">
            <a:avLst/>
          </a:prstGeom>
          <a:noFill/>
          <a:ln/>
        </p:spPr>
      </p:sp>
      <p:sp>
        <p:nvSpPr>
          <p:cNvPr id="98" name="Shape 89"/>
          <p:cNvSpPr/>
          <p:nvPr/>
        </p:nvSpPr>
        <p:spPr>
          <a:xfrm>
            <a:off x="4327327" y="4680262"/>
            <a:ext cx="207379" cy="43385"/>
          </a:xfrm>
          <a:prstGeom prst="rect">
            <a:avLst/>
          </a:prstGeom>
          <a:noFill/>
          <a:ln/>
        </p:spPr>
      </p:sp>
      <p:sp>
        <p:nvSpPr>
          <p:cNvPr id="99" name="Text 90"/>
          <p:cNvSpPr/>
          <p:nvPr/>
        </p:nvSpPr>
        <p:spPr>
          <a:xfrm>
            <a:off x="4327327" y="4680262"/>
            <a:ext cx="128588" cy="19050"/>
          </a:xfrm>
          <a:prstGeom prst="rect">
            <a:avLst/>
          </a:prstGeom>
          <a:noFill/>
          <a:ln/>
        </p:spPr>
        <p:txBody>
          <a:bodyPr wrap="square" lIns="0" tIns="0" rIns="0" bIns="0" rtlCol="0" anchor="t"/>
          <a:lstStyle/>
          <a:p>
            <a:pPr algn="l" indent="0" marL="0">
              <a:lnSpc>
                <a:spcPts val="135"/>
              </a:lnSpc>
              <a:buNone/>
            </a:pPr>
            <a:r>
              <a:rPr lang="en-US" sz="135" spc="-4" kern="0" dirty="0">
                <a:solidFill>
                  <a:srgbClr val="000000">
                    <a:alpha val="99000"/>
                  </a:srgbClr>
                </a:solidFill>
                <a:latin typeface="Inter" pitchFamily="34" charset="0"/>
                <a:ea typeface="Inter" pitchFamily="34" charset="-122"/>
                <a:cs typeface="Inter" pitchFamily="34" charset="-120"/>
              </a:rPr>
              <a:t>All meals on us!</a:t>
            </a:r>
            <a:endParaRPr lang="en-US" sz="135" dirty="0"/>
          </a:p>
        </p:txBody>
      </p:sp>
      <p:sp>
        <p:nvSpPr>
          <p:cNvPr id="100" name="Shape 91"/>
          <p:cNvSpPr/>
          <p:nvPr/>
        </p:nvSpPr>
        <p:spPr>
          <a:xfrm>
            <a:off x="4327327" y="4712832"/>
            <a:ext cx="207379" cy="10815"/>
          </a:xfrm>
          <a:prstGeom prst="rect">
            <a:avLst/>
          </a:prstGeom>
          <a:noFill/>
          <a:ln/>
        </p:spPr>
      </p:sp>
      <p:sp>
        <p:nvSpPr>
          <p:cNvPr id="101" name="Text 92"/>
          <p:cNvSpPr/>
          <p:nvPr/>
        </p:nvSpPr>
        <p:spPr>
          <a:xfrm>
            <a:off x="4327327" y="4712832"/>
            <a:ext cx="152400" cy="9525"/>
          </a:xfrm>
          <a:prstGeom prst="rect">
            <a:avLst/>
          </a:prstGeom>
          <a:noFill/>
          <a:ln/>
        </p:spPr>
        <p:txBody>
          <a:bodyPr wrap="square" lIns="0" tIns="0" rIns="0" bIns="0" rtlCol="0" anchor="t"/>
          <a:lstStyle/>
          <a:p>
            <a:pPr algn="l" indent="0" marL="0">
              <a:lnSpc>
                <a:spcPts val="88"/>
              </a:lnSpc>
              <a:buNone/>
            </a:pPr>
            <a:r>
              <a:rPr lang="en-US" sz="88" dirty="0">
                <a:solidFill>
                  <a:srgbClr val="000000">
                    <a:alpha val="99000"/>
                  </a:srgbClr>
                </a:solidFill>
                <a:latin typeface="Inter" pitchFamily="34" charset="0"/>
                <a:ea typeface="Inter" pitchFamily="34" charset="-122"/>
                <a:cs typeface="Inter" pitchFamily="34" charset="-120"/>
              </a:rPr>
              <a:t>Expires December 31, 2022</a:t>
            </a:r>
            <a:endParaRPr lang="en-US" sz="88" dirty="0"/>
          </a:p>
        </p:txBody>
      </p:sp>
      <p:sp>
        <p:nvSpPr>
          <p:cNvPr id="102" name="Text 93"/>
          <p:cNvSpPr/>
          <p:nvPr/>
        </p:nvSpPr>
        <p:spPr>
          <a:xfrm>
            <a:off x="4191042" y="4761790"/>
            <a:ext cx="209550" cy="14288"/>
          </a:xfrm>
          <a:prstGeom prst="rect">
            <a:avLst/>
          </a:prstGeom>
          <a:noFill/>
          <a:ln/>
        </p:spPr>
        <p:txBody>
          <a:bodyPr wrap="square" lIns="0" tIns="0" rIns="0" bIns="0" rtlCol="0" anchor="t"/>
          <a:lstStyle/>
          <a:p>
            <a:pPr algn="l" indent="0" marL="0">
              <a:lnSpc>
                <a:spcPts val="106"/>
              </a:lnSpc>
              <a:buNone/>
            </a:pPr>
            <a:r>
              <a:rPr lang="en-US" sz="88" dirty="0">
                <a:solidFill>
                  <a:srgbClr val="959595">
                    <a:alpha val="99000"/>
                  </a:srgbClr>
                </a:solidFill>
                <a:latin typeface="Inter" pitchFamily="34" charset="0"/>
                <a:ea typeface="Inter" pitchFamily="34" charset="-122"/>
                <a:cs typeface="Inter" pitchFamily="34" charset="-120"/>
              </a:rPr>
              <a:t>You can add an offer during checkout</a:t>
            </a:r>
            <a:endParaRPr lang="en-US" sz="88" dirty="0"/>
          </a:p>
        </p:txBody>
      </p:sp>
      <p:sp>
        <p:nvSpPr>
          <p:cNvPr id="103" name="Shape 94"/>
          <p:cNvSpPr/>
          <p:nvPr/>
        </p:nvSpPr>
        <p:spPr>
          <a:xfrm>
            <a:off x="3769421" y="4928390"/>
            <a:ext cx="1048197" cy="114463"/>
          </a:xfrm>
          <a:prstGeom prst="rect">
            <a:avLst/>
          </a:prstGeom>
          <a:noFill/>
          <a:ln/>
        </p:spPr>
      </p:sp>
      <p:sp>
        <p:nvSpPr>
          <p:cNvPr id="104" name="Text 95"/>
          <p:cNvSpPr/>
          <p:nvPr/>
        </p:nvSpPr>
        <p:spPr>
          <a:xfrm>
            <a:off x="3872159" y="4975252"/>
            <a:ext cx="76200" cy="38100"/>
          </a:xfrm>
          <a:prstGeom prst="rect">
            <a:avLst/>
          </a:prstGeom>
          <a:noFill/>
          <a:ln/>
        </p:spPr>
        <p:txBody>
          <a:bodyPr wrap="square" lIns="0" tIns="0" rIns="0" bIns="0" rtlCol="0" anchor="t"/>
          <a:lstStyle/>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Featured 
</a:t>
            </a:r>
            <a:endParaRPr lang="en-US" sz="115" dirty="0"/>
          </a:p>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villa rentals</a:t>
            </a:r>
            <a:endParaRPr lang="en-US" sz="115" dirty="0"/>
          </a:p>
        </p:txBody>
      </p:sp>
      <p:sp>
        <p:nvSpPr>
          <p:cNvPr id="105" name="Text 96"/>
          <p:cNvSpPr/>
          <p:nvPr/>
        </p:nvSpPr>
        <p:spPr>
          <a:xfrm>
            <a:off x="4130827" y="4975252"/>
            <a:ext cx="66675" cy="38100"/>
          </a:xfrm>
          <a:prstGeom prst="rect">
            <a:avLst/>
          </a:prstGeom>
          <a:noFill/>
          <a:ln/>
        </p:spPr>
        <p:txBody>
          <a:bodyPr wrap="square" lIns="0" tIns="0" rIns="0" bIns="0" rtlCol="0" anchor="t"/>
          <a:lstStyle/>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Homes
</a:t>
            </a:r>
            <a:endParaRPr lang="en-US" sz="115" dirty="0"/>
          </a:p>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accepted</a:t>
            </a:r>
            <a:endParaRPr lang="en-US" sz="115" dirty="0"/>
          </a:p>
        </p:txBody>
      </p:sp>
      <p:sp>
        <p:nvSpPr>
          <p:cNvPr id="106" name="Text 97"/>
          <p:cNvSpPr/>
          <p:nvPr/>
        </p:nvSpPr>
        <p:spPr>
          <a:xfrm>
            <a:off x="4039795" y="4968042"/>
            <a:ext cx="19050" cy="47625"/>
          </a:xfrm>
          <a:prstGeom prst="rect">
            <a:avLst/>
          </a:prstGeom>
          <a:noFill/>
          <a:ln/>
        </p:spPr>
        <p:txBody>
          <a:bodyPr wrap="square" lIns="0" tIns="0" rIns="0" bIns="0" rtlCol="0" anchor="t"/>
          <a:lstStyle/>
          <a:p>
            <a:pPr algn="l" indent="0" marL="0">
              <a:lnSpc>
                <a:spcPts val="372"/>
              </a:lnSpc>
              <a:buNone/>
            </a:pPr>
            <a:r>
              <a:rPr lang="en-US" sz="337" spc="-13" kern="0" dirty="0">
                <a:solidFill>
                  <a:srgbClr val="1E1E1E">
                    <a:alpha val="99000"/>
                  </a:srgbClr>
                </a:solidFill>
                <a:latin typeface="Bebas Neue" pitchFamily="34" charset="0"/>
                <a:ea typeface="Bebas Neue" pitchFamily="34" charset="-122"/>
                <a:cs typeface="Bebas Neue" pitchFamily="34" charset="-120"/>
              </a:rPr>
              <a:t>1</a:t>
            </a:r>
            <a:endParaRPr lang="en-US" sz="337" dirty="0"/>
          </a:p>
        </p:txBody>
      </p:sp>
      <p:sp>
        <p:nvSpPr>
          <p:cNvPr id="107" name="Text 98"/>
          <p:cNvSpPr/>
          <p:nvPr/>
        </p:nvSpPr>
        <p:spPr>
          <a:xfrm>
            <a:off x="4059627" y="4980660"/>
            <a:ext cx="14288" cy="23813"/>
          </a:xfrm>
          <a:prstGeom prst="rect">
            <a:avLst/>
          </a:prstGeom>
          <a:noFill/>
          <a:ln/>
        </p:spPr>
        <p:txBody>
          <a:bodyPr wrap="square" lIns="0" tIns="0" rIns="0" bIns="0" rtlCol="0" anchor="t"/>
          <a:lstStyle/>
          <a:p>
            <a:pPr algn="l" indent="0" marL="0">
              <a:lnSpc>
                <a:spcPts val="194"/>
              </a:lnSpc>
              <a:buNone/>
            </a:pPr>
            <a:r>
              <a:rPr lang="en-US" sz="175" spc="-7" kern="0" dirty="0">
                <a:solidFill>
                  <a:srgbClr val="1E1E1E">
                    <a:alpha val="99000"/>
                  </a:srgbClr>
                </a:solidFill>
                <a:latin typeface="Bebas Neue" pitchFamily="34" charset="0"/>
                <a:ea typeface="Bebas Neue" pitchFamily="34" charset="-122"/>
                <a:cs typeface="Bebas Neue" pitchFamily="34" charset="-120"/>
              </a:rPr>
              <a:t>IN</a:t>
            </a:r>
            <a:endParaRPr lang="en-US" sz="175" dirty="0"/>
          </a:p>
        </p:txBody>
      </p:sp>
      <p:sp>
        <p:nvSpPr>
          <p:cNvPr id="108" name="Text 99"/>
          <p:cNvSpPr/>
          <p:nvPr/>
        </p:nvSpPr>
        <p:spPr>
          <a:xfrm>
            <a:off x="4075849" y="4968042"/>
            <a:ext cx="38100" cy="47625"/>
          </a:xfrm>
          <a:prstGeom prst="rect">
            <a:avLst/>
          </a:prstGeom>
          <a:noFill/>
          <a:ln/>
        </p:spPr>
        <p:txBody>
          <a:bodyPr wrap="square" lIns="0" tIns="0" rIns="0" bIns="0" rtlCol="0" anchor="t"/>
          <a:lstStyle/>
          <a:p>
            <a:pPr algn="l" indent="0" marL="0">
              <a:lnSpc>
                <a:spcPts val="372"/>
              </a:lnSpc>
              <a:buNone/>
            </a:pPr>
            <a:r>
              <a:rPr lang="en-US" sz="337" dirty="0">
                <a:solidFill>
                  <a:srgbClr val="1E1E1E">
                    <a:alpha val="99000"/>
                  </a:srgbClr>
                </a:solidFill>
                <a:latin typeface="Bebas Neue" pitchFamily="34" charset="0"/>
                <a:ea typeface="Bebas Neue" pitchFamily="34" charset="-122"/>
                <a:cs typeface="Bebas Neue" pitchFamily="34" charset="-120"/>
              </a:rPr>
              <a:t>50</a:t>
            </a:r>
            <a:endParaRPr lang="en-US" sz="337" dirty="0"/>
          </a:p>
        </p:txBody>
      </p:sp>
      <p:sp>
        <p:nvSpPr>
          <p:cNvPr id="109" name="Shape 100"/>
          <p:cNvSpPr/>
          <p:nvPr/>
        </p:nvSpPr>
        <p:spPr>
          <a:xfrm rot="5400000">
            <a:off x="3983242" y="4989308"/>
            <a:ext cx="63090" cy="0"/>
          </a:xfrm>
          <a:prstGeom prst="line">
            <a:avLst/>
          </a:prstGeom>
          <a:noFill/>
          <a:ln w="856">
            <a:solidFill>
              <a:srgbClr val="F0F0F0"/>
            </a:solidFill>
            <a:prstDash val="solid"/>
          </a:ln>
        </p:spPr>
      </p:sp>
      <p:sp>
        <p:nvSpPr>
          <p:cNvPr id="110" name="Shape 101"/>
          <p:cNvSpPr/>
          <p:nvPr/>
        </p:nvSpPr>
        <p:spPr>
          <a:xfrm rot="5400000">
            <a:off x="4249942" y="4989308"/>
            <a:ext cx="63090" cy="0"/>
          </a:xfrm>
          <a:prstGeom prst="line">
            <a:avLst/>
          </a:prstGeom>
          <a:noFill/>
          <a:ln w="856">
            <a:solidFill>
              <a:srgbClr val="F0F0F0"/>
            </a:solidFill>
            <a:prstDash val="solid"/>
          </a:ln>
        </p:spPr>
      </p:sp>
      <p:sp>
        <p:nvSpPr>
          <p:cNvPr id="111" name="Text 102"/>
          <p:cNvSpPr/>
          <p:nvPr/>
        </p:nvSpPr>
        <p:spPr>
          <a:xfrm>
            <a:off x="4311997" y="4968036"/>
            <a:ext cx="71438" cy="47625"/>
          </a:xfrm>
          <a:prstGeom prst="rect">
            <a:avLst/>
          </a:prstGeom>
          <a:noFill/>
          <a:ln/>
        </p:spPr>
        <p:txBody>
          <a:bodyPr wrap="square" lIns="0" tIns="0" rIns="0" bIns="0" rtlCol="0" anchor="t"/>
          <a:lstStyle/>
          <a:p>
            <a:pPr algn="l" indent="0" marL="0">
              <a:lnSpc>
                <a:spcPts val="372"/>
              </a:lnSpc>
              <a:buNone/>
            </a:pPr>
            <a:r>
              <a:rPr lang="en-US" sz="337" spc="-8" kern="0" dirty="0">
                <a:solidFill>
                  <a:srgbClr val="1E1E1E">
                    <a:alpha val="99000"/>
                  </a:srgbClr>
                </a:solidFill>
                <a:latin typeface="Bebas Neue" pitchFamily="34" charset="0"/>
                <a:ea typeface="Bebas Neue" pitchFamily="34" charset="-122"/>
                <a:cs typeface="Bebas Neue" pitchFamily="34" charset="-120"/>
              </a:rPr>
              <a:t>500+</a:t>
            </a:r>
            <a:endParaRPr lang="en-US" sz="337" dirty="0"/>
          </a:p>
        </p:txBody>
      </p:sp>
      <p:sp>
        <p:nvSpPr>
          <p:cNvPr id="112" name="Text 103"/>
          <p:cNvSpPr/>
          <p:nvPr/>
        </p:nvSpPr>
        <p:spPr>
          <a:xfrm>
            <a:off x="4394918" y="4975247"/>
            <a:ext cx="90488" cy="38100"/>
          </a:xfrm>
          <a:prstGeom prst="rect">
            <a:avLst/>
          </a:prstGeom>
          <a:noFill/>
          <a:ln/>
        </p:spPr>
        <p:txBody>
          <a:bodyPr wrap="square" lIns="0" tIns="0" rIns="0" bIns="0" rtlCol="0" anchor="t"/>
          <a:lstStyle/>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Handpicked 
</a:t>
            </a:r>
            <a:endParaRPr lang="en-US" sz="115" dirty="0"/>
          </a:p>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homes</a:t>
            </a:r>
            <a:endParaRPr lang="en-US" sz="115" dirty="0"/>
          </a:p>
        </p:txBody>
      </p:sp>
      <p:sp>
        <p:nvSpPr>
          <p:cNvPr id="113" name="Text 104"/>
          <p:cNvSpPr/>
          <p:nvPr/>
        </p:nvSpPr>
        <p:spPr>
          <a:xfrm>
            <a:off x="4583288" y="4968042"/>
            <a:ext cx="128588" cy="47625"/>
          </a:xfrm>
          <a:prstGeom prst="rect">
            <a:avLst/>
          </a:prstGeom>
          <a:noFill/>
          <a:ln/>
        </p:spPr>
        <p:txBody>
          <a:bodyPr wrap="square" lIns="0" tIns="0" rIns="0" bIns="0" rtlCol="0" anchor="t"/>
          <a:lstStyle/>
          <a:p>
            <a:pPr algn="l" indent="0" marL="0">
              <a:lnSpc>
                <a:spcPts val="372"/>
              </a:lnSpc>
              <a:buNone/>
            </a:pPr>
            <a:r>
              <a:rPr lang="en-US" sz="337" spc="-8" kern="0" dirty="0">
                <a:solidFill>
                  <a:srgbClr val="1E1E1E">
                    <a:alpha val="99000"/>
                  </a:srgbClr>
                </a:solidFill>
                <a:latin typeface="Bebas Neue" pitchFamily="34" charset="0"/>
                <a:ea typeface="Bebas Neue" pitchFamily="34" charset="-122"/>
                <a:cs typeface="Bebas Neue" pitchFamily="34" charset="-120"/>
              </a:rPr>
              <a:t>250,000+</a:t>
            </a:r>
            <a:endParaRPr lang="en-US" sz="337" dirty="0"/>
          </a:p>
        </p:txBody>
      </p:sp>
      <p:sp>
        <p:nvSpPr>
          <p:cNvPr id="114" name="Shape 105"/>
          <p:cNvSpPr/>
          <p:nvPr/>
        </p:nvSpPr>
        <p:spPr>
          <a:xfrm rot="5400000">
            <a:off x="4521405" y="4989308"/>
            <a:ext cx="63090" cy="0"/>
          </a:xfrm>
          <a:prstGeom prst="line">
            <a:avLst/>
          </a:prstGeom>
          <a:noFill/>
          <a:ln w="856">
            <a:solidFill>
              <a:srgbClr val="F0F0F0"/>
            </a:solidFill>
            <a:prstDash val="solid"/>
          </a:ln>
        </p:spPr>
      </p:sp>
      <p:sp>
        <p:nvSpPr>
          <p:cNvPr id="115" name="Text 106"/>
          <p:cNvSpPr/>
          <p:nvPr/>
        </p:nvSpPr>
        <p:spPr>
          <a:xfrm>
            <a:off x="4723888" y="4975252"/>
            <a:ext cx="95250" cy="38100"/>
          </a:xfrm>
          <a:prstGeom prst="rect">
            <a:avLst/>
          </a:prstGeom>
          <a:noFill/>
          <a:ln/>
        </p:spPr>
        <p:txBody>
          <a:bodyPr wrap="square" lIns="0" tIns="0" rIns="0" bIns="0" rtlCol="0" anchor="t"/>
          <a:lstStyle/>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Happy guests</a:t>
            </a:r>
            <a:endParaRPr lang="en-US" sz="115" dirty="0"/>
          </a:p>
          <a:p>
            <a:pPr algn="l" indent="0" marL="0">
              <a:lnSpc>
                <a:spcPts val="127"/>
              </a:lnSpc>
              <a:buNone/>
            </a:pPr>
            <a:r>
              <a:rPr lang="en-US" sz="115" spc="-5" kern="0" dirty="0">
                <a:solidFill>
                  <a:srgbClr val="000000">
                    <a:alpha val="99000"/>
                  </a:srgbClr>
                </a:solidFill>
                <a:latin typeface="Inter" pitchFamily="34" charset="0"/>
                <a:ea typeface="Inter" pitchFamily="34" charset="-122"/>
                <a:cs typeface="Inter" pitchFamily="34" charset="-120"/>
              </a:rPr>
              <a:t>hosted</a:t>
            </a:r>
            <a:endParaRPr lang="en-US" sz="115" dirty="0"/>
          </a:p>
        </p:txBody>
      </p:sp>
      <p:sp>
        <p:nvSpPr>
          <p:cNvPr id="116" name="Shape 107"/>
          <p:cNvSpPr/>
          <p:nvPr/>
        </p:nvSpPr>
        <p:spPr>
          <a:xfrm>
            <a:off x="3718950" y="2943259"/>
            <a:ext cx="1153648" cy="791073"/>
          </a:xfrm>
          <a:prstGeom prst="rect">
            <a:avLst/>
          </a:prstGeom>
          <a:noFill/>
          <a:ln/>
        </p:spPr>
      </p:sp>
      <p:pic>
        <p:nvPicPr>
          <p:cNvPr id="117" name="Image 7" descr="preencoded.png">    </p:cNvPr>
          <p:cNvPicPr>
            <a:picLocks noChangeAspect="1"/>
          </p:cNvPicPr>
          <p:nvPr/>
        </p:nvPicPr>
        <p:blipFill>
          <a:blip r:embed="rId8"/>
          <a:srcRect l="0" r="0" t="0" b="0"/>
          <a:stretch/>
        </p:blipFill>
        <p:spPr>
          <a:xfrm>
            <a:off x="3954201" y="3581365"/>
            <a:ext cx="684977" cy="90129"/>
          </a:xfrm>
          <a:prstGeom prst="rect">
            <a:avLst/>
          </a:prstGeom>
        </p:spPr>
      </p:pic>
      <p:pic>
        <p:nvPicPr>
          <p:cNvPr id="118" name="Image 8" descr="preencoded.png">    </p:cNvPr>
          <p:cNvPicPr>
            <a:picLocks noChangeAspect="1"/>
          </p:cNvPicPr>
          <p:nvPr/>
        </p:nvPicPr>
        <p:blipFill>
          <a:blip r:embed="rId9"/>
          <a:srcRect l="0" r="0" t="0" b="0"/>
          <a:stretch/>
        </p:blipFill>
        <p:spPr>
          <a:xfrm>
            <a:off x="3768523" y="2970293"/>
            <a:ext cx="1054508" cy="659227"/>
          </a:xfrm>
          <a:prstGeom prst="rect">
            <a:avLst/>
          </a:prstGeom>
        </p:spPr>
      </p:pic>
      <p:pic>
        <p:nvPicPr>
          <p:cNvPr id="119" name="Image 9" descr="preencoded.png">    </p:cNvPr>
          <p:cNvPicPr>
            <a:picLocks noChangeAspect="1"/>
          </p:cNvPicPr>
          <p:nvPr/>
        </p:nvPicPr>
        <p:blipFill>
          <a:blip r:embed="rId10"/>
          <a:srcRect l="0" r="0" t="0" b="0"/>
          <a:stretch/>
        </p:blipFill>
        <p:spPr>
          <a:xfrm>
            <a:off x="4236290" y="3439826"/>
            <a:ext cx="118970" cy="36052"/>
          </a:xfrm>
          <a:prstGeom prst="rect">
            <a:avLst/>
          </a:prstGeom>
        </p:spPr>
      </p:pic>
      <p:sp>
        <p:nvSpPr>
          <p:cNvPr id="120" name="Shape 108"/>
          <p:cNvSpPr/>
          <p:nvPr/>
        </p:nvSpPr>
        <p:spPr>
          <a:xfrm>
            <a:off x="3768523" y="2970293"/>
            <a:ext cx="1054506" cy="72103"/>
          </a:xfrm>
          <a:prstGeom prst="rect">
            <a:avLst/>
          </a:prstGeom>
          <a:noFill/>
          <a:ln/>
        </p:spPr>
      </p:sp>
      <p:sp>
        <p:nvSpPr>
          <p:cNvPr id="121" name="Shape 109"/>
          <p:cNvSpPr/>
          <p:nvPr/>
        </p:nvSpPr>
        <p:spPr>
          <a:xfrm>
            <a:off x="3785457" y="2989910"/>
            <a:ext cx="72103" cy="32869"/>
          </a:xfrm>
          <a:prstGeom prst="rect">
            <a:avLst/>
          </a:prstGeom>
          <a:noFill/>
          <a:ln/>
        </p:spPr>
      </p:sp>
      <p:pic>
        <p:nvPicPr>
          <p:cNvPr id="122" name="Image 10" descr="preencoded.png">    </p:cNvPr>
          <p:cNvPicPr>
            <a:picLocks noChangeAspect="1"/>
          </p:cNvPicPr>
          <p:nvPr/>
        </p:nvPicPr>
        <p:blipFill>
          <a:blip r:embed="rId11"/>
          <a:srcRect l="0" r="14" t="0" b="76"/>
          <a:stretch/>
        </p:blipFill>
        <p:spPr>
          <a:xfrm>
            <a:off x="3785467" y="2989884"/>
            <a:ext cx="72094" cy="32856"/>
          </a:xfrm>
          <a:prstGeom prst="rect">
            <a:avLst/>
          </a:prstGeom>
        </p:spPr>
      </p:pic>
      <p:pic>
        <p:nvPicPr>
          <p:cNvPr id="123" name="Image 11" descr="preencoded.png">    </p:cNvPr>
          <p:cNvPicPr>
            <a:picLocks noChangeAspect="1"/>
          </p:cNvPicPr>
          <p:nvPr/>
        </p:nvPicPr>
        <p:blipFill>
          <a:blip r:embed="rId12"/>
          <a:srcRect l="0" r="0" t="0" b="0"/>
          <a:stretch/>
        </p:blipFill>
        <p:spPr>
          <a:xfrm>
            <a:off x="4637163" y="2992824"/>
            <a:ext cx="95538" cy="27039"/>
          </a:xfrm>
          <a:prstGeom prst="rect">
            <a:avLst/>
          </a:prstGeom>
        </p:spPr>
      </p:pic>
      <p:pic>
        <p:nvPicPr>
          <p:cNvPr id="124" name="Image 12" descr="preencoded.png">    </p:cNvPr>
          <p:cNvPicPr>
            <a:picLocks noChangeAspect="1"/>
          </p:cNvPicPr>
          <p:nvPr/>
        </p:nvPicPr>
        <p:blipFill>
          <a:blip r:embed="rId13"/>
          <a:srcRect l="0" r="0" t="0" b="0"/>
          <a:stretch/>
        </p:blipFill>
        <p:spPr>
          <a:xfrm>
            <a:off x="4750738" y="2992824"/>
            <a:ext cx="27040" cy="27040"/>
          </a:xfrm>
          <a:prstGeom prst="rect">
            <a:avLst/>
          </a:prstGeom>
        </p:spPr>
      </p:pic>
      <p:sp>
        <p:nvSpPr>
          <p:cNvPr id="125" name="Text 110"/>
          <p:cNvSpPr/>
          <p:nvPr/>
        </p:nvSpPr>
        <p:spPr>
          <a:xfrm>
            <a:off x="4782280" y="2999133"/>
            <a:ext cx="23813" cy="14288"/>
          </a:xfrm>
          <a:prstGeom prst="rect">
            <a:avLst/>
          </a:prstGeom>
          <a:noFill/>
          <a:ln/>
        </p:spPr>
        <p:txBody>
          <a:bodyPr wrap="square" lIns="0" tIns="0" rIns="0" bIns="0" rtlCol="0" anchor="t"/>
          <a:lstStyle/>
          <a:p>
            <a:pPr algn="l" indent="0" marL="0">
              <a:lnSpc>
                <a:spcPts val="106"/>
              </a:lnSpc>
              <a:buNone/>
            </a:pPr>
            <a:r>
              <a:rPr lang="en-US" sz="88" dirty="0">
                <a:solidFill>
                  <a:srgbClr val="FFFFFF">
                    <a:alpha val="99000"/>
                  </a:srgbClr>
                </a:solidFill>
                <a:latin typeface="Inter" pitchFamily="34" charset="0"/>
                <a:ea typeface="Inter" pitchFamily="34" charset="-122"/>
                <a:cs typeface="Inter" pitchFamily="34" charset="-120"/>
              </a:rPr>
              <a:t>You</a:t>
            </a:r>
            <a:endParaRPr lang="en-US" sz="88" dirty="0"/>
          </a:p>
        </p:txBody>
      </p:sp>
      <p:sp>
        <p:nvSpPr>
          <p:cNvPr id="126" name="Shape 111"/>
          <p:cNvSpPr/>
          <p:nvPr/>
        </p:nvSpPr>
        <p:spPr>
          <a:xfrm>
            <a:off x="3952429" y="3583259"/>
            <a:ext cx="689442" cy="93391"/>
          </a:xfrm>
          <a:prstGeom prst="rect">
            <a:avLst/>
          </a:prstGeom>
          <a:noFill/>
          <a:ln/>
        </p:spPr>
      </p:sp>
      <p:pic>
        <p:nvPicPr>
          <p:cNvPr id="127" name="Image 13" descr="preencoded.png">    </p:cNvPr>
          <p:cNvPicPr>
            <a:picLocks noChangeAspect="1"/>
          </p:cNvPicPr>
          <p:nvPr/>
        </p:nvPicPr>
        <p:blipFill>
          <a:blip r:embed="rId14"/>
          <a:srcRect l="0" r="0" t="0" b="0"/>
          <a:stretch/>
        </p:blipFill>
        <p:spPr>
          <a:xfrm>
            <a:off x="3954191" y="3584128"/>
            <a:ext cx="684977" cy="90129"/>
          </a:xfrm>
          <a:prstGeom prst="rect">
            <a:avLst/>
          </a:prstGeom>
        </p:spPr>
      </p:pic>
      <p:pic>
        <p:nvPicPr>
          <p:cNvPr id="128" name="Image 14" descr="preencoded.png">    </p:cNvPr>
          <p:cNvPicPr>
            <a:picLocks noChangeAspect="1"/>
          </p:cNvPicPr>
          <p:nvPr/>
        </p:nvPicPr>
        <p:blipFill>
          <a:blip r:embed="rId15"/>
          <a:srcRect l="0" r="0" t="0" b="0"/>
          <a:stretch/>
        </p:blipFill>
        <p:spPr>
          <a:xfrm>
            <a:off x="3954191" y="3584128"/>
            <a:ext cx="684977" cy="90129"/>
          </a:xfrm>
          <a:prstGeom prst="rect">
            <a:avLst/>
          </a:prstGeom>
        </p:spPr>
      </p:pic>
      <p:sp>
        <p:nvSpPr>
          <p:cNvPr id="129" name="Shape 112"/>
          <p:cNvSpPr/>
          <p:nvPr/>
        </p:nvSpPr>
        <p:spPr>
          <a:xfrm rot="5400000">
            <a:off x="4330649" y="3627489"/>
            <a:ext cx="54077" cy="0"/>
          </a:xfrm>
          <a:prstGeom prst="line">
            <a:avLst/>
          </a:prstGeom>
          <a:noFill/>
          <a:ln w="856">
            <a:solidFill>
              <a:srgbClr val="FFFFFF">
                <a:alpha val="20000"/>
              </a:srgbClr>
            </a:solidFill>
            <a:prstDash val="solid"/>
          </a:ln>
        </p:spPr>
      </p:sp>
      <p:sp>
        <p:nvSpPr>
          <p:cNvPr id="130" name="Shape 113"/>
          <p:cNvSpPr/>
          <p:nvPr/>
        </p:nvSpPr>
        <p:spPr>
          <a:xfrm rot="5400000">
            <a:off x="4106811" y="3627489"/>
            <a:ext cx="54077" cy="0"/>
          </a:xfrm>
          <a:prstGeom prst="line">
            <a:avLst/>
          </a:prstGeom>
          <a:noFill/>
          <a:ln w="856">
            <a:solidFill>
              <a:srgbClr val="FFFFFF">
                <a:alpha val="20000"/>
              </a:srgbClr>
            </a:solidFill>
            <a:prstDash val="solid"/>
          </a:ln>
        </p:spPr>
      </p:sp>
      <p:sp>
        <p:nvSpPr>
          <p:cNvPr id="131" name="Shape 114"/>
          <p:cNvSpPr/>
          <p:nvPr/>
        </p:nvSpPr>
        <p:spPr>
          <a:xfrm rot="5400000">
            <a:off x="4216349" y="3627489"/>
            <a:ext cx="54077" cy="0"/>
          </a:xfrm>
          <a:prstGeom prst="line">
            <a:avLst/>
          </a:prstGeom>
          <a:noFill/>
          <a:ln w="856">
            <a:solidFill>
              <a:srgbClr val="FFFFFF">
                <a:alpha val="20000"/>
              </a:srgbClr>
            </a:solidFill>
            <a:prstDash val="solid"/>
          </a:ln>
        </p:spPr>
      </p:sp>
      <p:sp>
        <p:nvSpPr>
          <p:cNvPr id="132" name="Shape 115"/>
          <p:cNvSpPr/>
          <p:nvPr/>
        </p:nvSpPr>
        <p:spPr>
          <a:xfrm>
            <a:off x="4160737" y="3610399"/>
            <a:ext cx="61912" cy="37588"/>
          </a:xfrm>
          <a:prstGeom prst="rect">
            <a:avLst/>
          </a:prstGeom>
          <a:noFill/>
          <a:ln/>
        </p:spPr>
      </p:sp>
      <p:sp>
        <p:nvSpPr>
          <p:cNvPr id="133" name="Text 116"/>
          <p:cNvSpPr/>
          <p:nvPr/>
        </p:nvSpPr>
        <p:spPr>
          <a:xfrm>
            <a:off x="4160737" y="3610399"/>
            <a:ext cx="57150"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Check-in</a:t>
            </a:r>
            <a:endParaRPr lang="en-US" sz="101" dirty="0"/>
          </a:p>
        </p:txBody>
      </p:sp>
      <p:sp>
        <p:nvSpPr>
          <p:cNvPr id="134" name="Text 117"/>
          <p:cNvSpPr/>
          <p:nvPr/>
        </p:nvSpPr>
        <p:spPr>
          <a:xfrm>
            <a:off x="4160737" y="3633699"/>
            <a:ext cx="61912"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Add dates</a:t>
            </a:r>
            <a:endParaRPr lang="en-US" sz="101" dirty="0"/>
          </a:p>
        </p:txBody>
      </p:sp>
      <p:sp>
        <p:nvSpPr>
          <p:cNvPr id="135" name="Shape 118"/>
          <p:cNvSpPr/>
          <p:nvPr/>
        </p:nvSpPr>
        <p:spPr>
          <a:xfrm>
            <a:off x="4273395" y="3610398"/>
            <a:ext cx="61912" cy="37588"/>
          </a:xfrm>
          <a:prstGeom prst="rect">
            <a:avLst/>
          </a:prstGeom>
          <a:noFill/>
          <a:ln/>
        </p:spPr>
      </p:sp>
      <p:sp>
        <p:nvSpPr>
          <p:cNvPr id="136" name="Text 119"/>
          <p:cNvSpPr/>
          <p:nvPr/>
        </p:nvSpPr>
        <p:spPr>
          <a:xfrm>
            <a:off x="4273395" y="3610398"/>
            <a:ext cx="57150"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Checkout</a:t>
            </a:r>
            <a:endParaRPr lang="en-US" sz="101" dirty="0"/>
          </a:p>
        </p:txBody>
      </p:sp>
      <p:sp>
        <p:nvSpPr>
          <p:cNvPr id="137" name="Text 120"/>
          <p:cNvSpPr/>
          <p:nvPr/>
        </p:nvSpPr>
        <p:spPr>
          <a:xfrm>
            <a:off x="4273395" y="3633699"/>
            <a:ext cx="61912"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Add dates</a:t>
            </a:r>
            <a:endParaRPr lang="en-US" sz="101" dirty="0"/>
          </a:p>
        </p:txBody>
      </p:sp>
      <p:sp>
        <p:nvSpPr>
          <p:cNvPr id="138" name="Shape 121"/>
          <p:cNvSpPr/>
          <p:nvPr/>
        </p:nvSpPr>
        <p:spPr>
          <a:xfrm>
            <a:off x="4388634" y="3610399"/>
            <a:ext cx="66675" cy="37588"/>
          </a:xfrm>
          <a:prstGeom prst="rect">
            <a:avLst/>
          </a:prstGeom>
          <a:noFill/>
          <a:ln/>
        </p:spPr>
      </p:sp>
      <p:sp>
        <p:nvSpPr>
          <p:cNvPr id="139" name="Text 122"/>
          <p:cNvSpPr/>
          <p:nvPr/>
        </p:nvSpPr>
        <p:spPr>
          <a:xfrm>
            <a:off x="4388634" y="3610399"/>
            <a:ext cx="42863"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Guests</a:t>
            </a:r>
            <a:endParaRPr lang="en-US" sz="101" dirty="0"/>
          </a:p>
        </p:txBody>
      </p:sp>
      <p:sp>
        <p:nvSpPr>
          <p:cNvPr id="140" name="Text 123"/>
          <p:cNvSpPr/>
          <p:nvPr/>
        </p:nvSpPr>
        <p:spPr>
          <a:xfrm>
            <a:off x="4388634" y="3633699"/>
            <a:ext cx="66675"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Add guests</a:t>
            </a:r>
            <a:endParaRPr lang="en-US" sz="101" dirty="0"/>
          </a:p>
        </p:txBody>
      </p:sp>
      <p:pic>
        <p:nvPicPr>
          <p:cNvPr id="141" name="Image 15" descr="preencoded.png">    </p:cNvPr>
          <p:cNvPicPr>
            <a:picLocks noChangeAspect="1"/>
          </p:cNvPicPr>
          <p:nvPr/>
        </p:nvPicPr>
        <p:blipFill>
          <a:blip r:embed="rId16"/>
          <a:srcRect l="0" r="0" t="0" b="0"/>
          <a:stretch/>
        </p:blipFill>
        <p:spPr>
          <a:xfrm>
            <a:off x="4555364" y="3599450"/>
            <a:ext cx="63090" cy="59485"/>
          </a:xfrm>
          <a:prstGeom prst="rect">
            <a:avLst/>
          </a:prstGeom>
        </p:spPr>
      </p:pic>
      <p:sp>
        <p:nvSpPr>
          <p:cNvPr id="142" name="Shape 124"/>
          <p:cNvSpPr/>
          <p:nvPr/>
        </p:nvSpPr>
        <p:spPr>
          <a:xfrm>
            <a:off x="3980022" y="3610383"/>
            <a:ext cx="128588" cy="37588"/>
          </a:xfrm>
          <a:prstGeom prst="rect">
            <a:avLst/>
          </a:prstGeom>
          <a:noFill/>
          <a:ln/>
        </p:spPr>
      </p:sp>
      <p:sp>
        <p:nvSpPr>
          <p:cNvPr id="143" name="Text 125"/>
          <p:cNvSpPr/>
          <p:nvPr/>
        </p:nvSpPr>
        <p:spPr>
          <a:xfrm>
            <a:off x="3980022" y="3610383"/>
            <a:ext cx="109538"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Destination / Villas</a:t>
            </a:r>
            <a:endParaRPr lang="en-US" sz="101" dirty="0"/>
          </a:p>
        </p:txBody>
      </p:sp>
      <p:sp>
        <p:nvSpPr>
          <p:cNvPr id="144" name="Text 126"/>
          <p:cNvSpPr/>
          <p:nvPr/>
        </p:nvSpPr>
        <p:spPr>
          <a:xfrm>
            <a:off x="3980022" y="3633683"/>
            <a:ext cx="128588" cy="14288"/>
          </a:xfrm>
          <a:prstGeom prst="rect">
            <a:avLst/>
          </a:prstGeom>
          <a:noFill/>
          <a:ln/>
        </p:spPr>
        <p:txBody>
          <a:bodyPr wrap="square" lIns="0" tIns="0" rIns="0" bIns="0" rtlCol="0" anchor="t"/>
          <a:lstStyle/>
          <a:p>
            <a:pPr algn="l" indent="0" marL="0">
              <a:lnSpc>
                <a:spcPts val="122"/>
              </a:lnSpc>
              <a:buNone/>
            </a:pPr>
            <a:r>
              <a:rPr lang="en-US" sz="101" spc="-5" kern="0" dirty="0">
                <a:solidFill>
                  <a:srgbClr val="FFFFFF">
                    <a:alpha val="99000"/>
                  </a:srgbClr>
                </a:solidFill>
                <a:latin typeface="Inter" pitchFamily="34" charset="0"/>
                <a:ea typeface="Inter" pitchFamily="34" charset="-122"/>
                <a:cs typeface="Inter" pitchFamily="34" charset="-120"/>
              </a:rPr>
              <a:t>Where are you going?</a:t>
            </a:r>
            <a:endParaRPr lang="en-US" sz="101" dirty="0"/>
          </a:p>
        </p:txBody>
      </p:sp>
      <p:sp>
        <p:nvSpPr>
          <p:cNvPr id="145" name="Shape 127"/>
          <p:cNvSpPr/>
          <p:nvPr/>
        </p:nvSpPr>
        <p:spPr>
          <a:xfrm>
            <a:off x="3768523" y="3169482"/>
            <a:ext cx="1054506" cy="231631"/>
          </a:xfrm>
          <a:prstGeom prst="rect">
            <a:avLst/>
          </a:prstGeom>
          <a:noFill/>
          <a:ln/>
        </p:spPr>
      </p:sp>
      <p:sp>
        <p:nvSpPr>
          <p:cNvPr id="146" name="Text 128"/>
          <p:cNvSpPr/>
          <p:nvPr/>
        </p:nvSpPr>
        <p:spPr>
          <a:xfrm>
            <a:off x="3590069" y="3224418"/>
            <a:ext cx="494321" cy="232028"/>
          </a:xfrm>
          <a:prstGeom prst="rect">
            <a:avLst/>
          </a:prstGeom>
          <a:noFill/>
          <a:ln/>
        </p:spPr>
        <p:txBody>
          <a:bodyPr wrap="square" lIns="0" tIns="0" rIns="0" bIns="0" rtlCol="0" anchor="t"/>
          <a:lstStyle/>
          <a:p>
            <a:pPr algn="l" indent="0" marL="0">
              <a:lnSpc>
                <a:spcPts val="1733"/>
              </a:lnSpc>
              <a:buNone/>
            </a:pPr>
            <a:r>
              <a:rPr lang="en-US" sz="1348" spc="-67" kern="0" dirty="0">
                <a:solidFill>
                  <a:srgbClr val="FFFFFF">
                    <a:alpha val="99000"/>
                  </a:srgbClr>
                </a:solidFill>
                <a:latin typeface="Larken-Light" pitchFamily="34" charset="0"/>
                <a:ea typeface="Larken-Light" pitchFamily="34" charset="-122"/>
                <a:cs typeface="Larken-Light" pitchFamily="34" charset="-120"/>
              </a:rPr>
              <a:t>Events.</a:t>
            </a:r>
            <a:endParaRPr lang="en-US" sz="1348" dirty="0"/>
          </a:p>
        </p:txBody>
      </p:sp>
      <p:sp>
        <p:nvSpPr>
          <p:cNvPr id="147" name="Text 129"/>
          <p:cNvSpPr/>
          <p:nvPr/>
        </p:nvSpPr>
        <p:spPr>
          <a:xfrm>
            <a:off x="4082174" y="3224418"/>
            <a:ext cx="433792" cy="232028"/>
          </a:xfrm>
          <a:prstGeom prst="rect">
            <a:avLst/>
          </a:prstGeom>
          <a:noFill/>
          <a:ln/>
        </p:spPr>
        <p:txBody>
          <a:bodyPr wrap="square" lIns="0" tIns="0" rIns="0" bIns="0" rtlCol="0" anchor="t"/>
          <a:lstStyle/>
          <a:p>
            <a:pPr algn="l" indent="0" marL="0">
              <a:lnSpc>
                <a:spcPts val="1733"/>
              </a:lnSpc>
              <a:buNone/>
            </a:pPr>
            <a:r>
              <a:rPr lang="en-US" sz="1348" spc="-67" kern="0" dirty="0">
                <a:solidFill>
                  <a:srgbClr val="FFFFFF">
                    <a:alpha val="99000"/>
                  </a:srgbClr>
                </a:solidFill>
                <a:latin typeface="Larken-Italic" pitchFamily="34" charset="0"/>
                <a:ea typeface="Larken-Italic" pitchFamily="34" charset="-122"/>
                <a:cs typeface="Larken-Italic" pitchFamily="34" charset="-120"/>
              </a:rPr>
              <a:t>Villas.</a:t>
            </a:r>
            <a:endParaRPr lang="en-US" sz="1348" dirty="0"/>
          </a:p>
        </p:txBody>
      </p:sp>
      <p:sp>
        <p:nvSpPr>
          <p:cNvPr id="148" name="Text 130"/>
          <p:cNvSpPr/>
          <p:nvPr/>
        </p:nvSpPr>
        <p:spPr>
          <a:xfrm>
            <a:off x="4082174" y="3224418"/>
            <a:ext cx="433792" cy="232028"/>
          </a:xfrm>
          <a:prstGeom prst="rect">
            <a:avLst/>
          </a:prstGeom>
          <a:noFill/>
          <a:ln/>
        </p:spPr>
        <p:txBody>
          <a:bodyPr wrap="square" lIns="0" tIns="0" rIns="0" bIns="0" rtlCol="0" anchor="t"/>
          <a:lstStyle/>
          <a:p>
            <a:pPr algn="l" indent="0" marL="0">
              <a:lnSpc>
                <a:spcPts val="1733"/>
              </a:lnSpc>
              <a:buNone/>
            </a:pPr>
            <a:r>
              <a:rPr lang="en-US" sz="1348" spc="-67" kern="0" dirty="0">
                <a:solidFill>
                  <a:srgbClr val="FFFFFF">
                    <a:alpha val="99000"/>
                  </a:srgbClr>
                </a:solidFill>
                <a:latin typeface="Larken-Italic" pitchFamily="34" charset="0"/>
                <a:ea typeface="Larken-Italic" pitchFamily="34" charset="-122"/>
                <a:cs typeface="Larken-Italic" pitchFamily="34" charset="-120"/>
              </a:rPr>
              <a:t>Villas.</a:t>
            </a:r>
            <a:endParaRPr lang="en-US" sz="1348" dirty="0"/>
          </a:p>
        </p:txBody>
      </p:sp>
      <p:sp>
        <p:nvSpPr>
          <p:cNvPr id="149" name="Text 131"/>
          <p:cNvSpPr/>
          <p:nvPr/>
        </p:nvSpPr>
        <p:spPr>
          <a:xfrm>
            <a:off x="4517482" y="3224418"/>
            <a:ext cx="587636" cy="232028"/>
          </a:xfrm>
          <a:prstGeom prst="rect">
            <a:avLst/>
          </a:prstGeom>
          <a:noFill/>
          <a:ln/>
        </p:spPr>
        <p:txBody>
          <a:bodyPr wrap="square" lIns="0" tIns="0" rIns="0" bIns="0" rtlCol="0" anchor="t"/>
          <a:lstStyle/>
          <a:p>
            <a:pPr algn="l" indent="0" marL="0">
              <a:lnSpc>
                <a:spcPts val="1733"/>
              </a:lnSpc>
              <a:buNone/>
            </a:pPr>
            <a:r>
              <a:rPr lang="en-US" sz="1348" spc="-67" kern="0" dirty="0">
                <a:solidFill>
                  <a:srgbClr val="FFFFFF">
                    <a:alpha val="99000"/>
                  </a:srgbClr>
                </a:solidFill>
                <a:latin typeface="Larken-Regular" pitchFamily="34" charset="0"/>
                <a:ea typeface="Larken-Regular" pitchFamily="34" charset="-122"/>
                <a:cs typeface="Larken-Regular" pitchFamily="34" charset="-120"/>
              </a:rPr>
              <a:t>Culinary</a:t>
            </a:r>
            <a:endParaRPr lang="en-US" sz="1348" dirty="0"/>
          </a:p>
        </p:txBody>
      </p:sp>
      <p:sp>
        <p:nvSpPr>
          <p:cNvPr id="150" name="Shape 132"/>
          <p:cNvSpPr/>
          <p:nvPr/>
        </p:nvSpPr>
        <p:spPr>
          <a:xfrm>
            <a:off x="3519488" y="3910013"/>
            <a:ext cx="1409700" cy="352425"/>
          </a:xfrm>
          <a:prstGeom prst="rect">
            <a:avLst/>
          </a:prstGeom>
          <a:noFill/>
          <a:ln/>
        </p:spPr>
      </p:sp>
      <p:sp>
        <p:nvSpPr>
          <p:cNvPr id="151" name="Text 133"/>
          <p:cNvSpPr/>
          <p:nvPr/>
        </p:nvSpPr>
        <p:spPr>
          <a:xfrm>
            <a:off x="3519488" y="3910013"/>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StayVista</a:t>
            </a:r>
            <a:endParaRPr lang="en-US" sz="855" dirty="0"/>
          </a:p>
        </p:txBody>
      </p:sp>
      <p:sp>
        <p:nvSpPr>
          <p:cNvPr id="152" name="Text 134"/>
          <p:cNvSpPr/>
          <p:nvPr/>
        </p:nvSpPr>
        <p:spPr>
          <a:xfrm>
            <a:off x="3519488" y="4052888"/>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97% increase in conversion rate from checkout to payment.</a:t>
            </a:r>
            <a:endParaRPr lang="en-US" sz="641" dirty="0"/>
          </a:p>
        </p:txBody>
      </p:sp>
      <p:sp>
        <p:nvSpPr>
          <p:cNvPr id="153" name="Shape 135"/>
          <p:cNvSpPr/>
          <p:nvPr/>
        </p:nvSpPr>
        <p:spPr>
          <a:xfrm>
            <a:off x="5210175" y="2833688"/>
            <a:ext cx="1547813" cy="1323975"/>
          </a:xfrm>
          <a:prstGeom prst="rect">
            <a:avLst/>
          </a:prstGeom>
          <a:noFill/>
          <a:ln/>
        </p:spPr>
      </p:sp>
      <p:pic>
        <p:nvPicPr>
          <p:cNvPr id="154" name="Image 16" descr="preencoded.png">    </p:cNvPr>
          <p:cNvPicPr>
            <a:picLocks noChangeAspect="1"/>
          </p:cNvPicPr>
          <p:nvPr/>
        </p:nvPicPr>
        <p:blipFill>
          <a:blip r:embed="rId17"/>
          <a:srcRect l="0" r="0" t="0" b="0"/>
          <a:stretch/>
        </p:blipFill>
        <p:spPr>
          <a:xfrm>
            <a:off x="5210175" y="2833688"/>
            <a:ext cx="1547813" cy="981075"/>
          </a:xfrm>
          <a:prstGeom prst="rect">
            <a:avLst/>
          </a:prstGeom>
        </p:spPr>
      </p:pic>
      <p:sp>
        <p:nvSpPr>
          <p:cNvPr id="155" name="Shape 136"/>
          <p:cNvSpPr/>
          <p:nvPr/>
        </p:nvSpPr>
        <p:spPr>
          <a:xfrm>
            <a:off x="5210175" y="3910013"/>
            <a:ext cx="1409700" cy="247650"/>
          </a:xfrm>
          <a:prstGeom prst="rect">
            <a:avLst/>
          </a:prstGeom>
          <a:noFill/>
          <a:ln/>
        </p:spPr>
      </p:sp>
      <p:sp>
        <p:nvSpPr>
          <p:cNvPr id="156" name="Text 137"/>
          <p:cNvSpPr/>
          <p:nvPr/>
        </p:nvSpPr>
        <p:spPr>
          <a:xfrm>
            <a:off x="5210175" y="3910013"/>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AU Bank (Website)</a:t>
            </a:r>
            <a:endParaRPr lang="en-US" sz="855" dirty="0"/>
          </a:p>
        </p:txBody>
      </p:sp>
      <p:sp>
        <p:nvSpPr>
          <p:cNvPr id="157" name="Text 138"/>
          <p:cNvSpPr/>
          <p:nvPr/>
        </p:nvSpPr>
        <p:spPr>
          <a:xfrm>
            <a:off x="5210175" y="4052888"/>
            <a:ext cx="1409700" cy="104775"/>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80% increase in leads</a:t>
            </a:r>
            <a:endParaRPr lang="en-US" sz="641" dirty="0"/>
          </a:p>
        </p:txBody>
      </p:sp>
      <p:sp>
        <p:nvSpPr>
          <p:cNvPr id="158" name="Shape 139"/>
          <p:cNvSpPr/>
          <p:nvPr/>
        </p:nvSpPr>
        <p:spPr>
          <a:xfrm>
            <a:off x="6900863" y="2833688"/>
            <a:ext cx="1547813" cy="1428750"/>
          </a:xfrm>
          <a:prstGeom prst="rect">
            <a:avLst/>
          </a:prstGeom>
          <a:noFill/>
          <a:ln/>
        </p:spPr>
      </p:sp>
      <p:sp>
        <p:nvSpPr>
          <p:cNvPr id="159" name="Shape 140"/>
          <p:cNvSpPr/>
          <p:nvPr/>
        </p:nvSpPr>
        <p:spPr>
          <a:xfrm>
            <a:off x="6900863" y="2833688"/>
            <a:ext cx="1547813" cy="1428750"/>
          </a:xfrm>
          <a:prstGeom prst="rect">
            <a:avLst/>
          </a:prstGeom>
          <a:noFill/>
          <a:ln/>
        </p:spPr>
      </p:sp>
      <p:pic>
        <p:nvPicPr>
          <p:cNvPr id="160" name="Image 17" descr="preencoded.png">    </p:cNvPr>
          <p:cNvPicPr>
            <a:picLocks noChangeAspect="1"/>
          </p:cNvPicPr>
          <p:nvPr/>
        </p:nvPicPr>
        <p:blipFill>
          <a:blip r:embed="rId18"/>
          <a:srcRect l="0" r="0" t="0" b="0"/>
          <a:stretch/>
        </p:blipFill>
        <p:spPr>
          <a:xfrm>
            <a:off x="6900863" y="2833688"/>
            <a:ext cx="1547813" cy="981075"/>
          </a:xfrm>
          <a:prstGeom prst="rect">
            <a:avLst/>
          </a:prstGeom>
        </p:spPr>
      </p:pic>
      <p:sp>
        <p:nvSpPr>
          <p:cNvPr id="161" name="Shape 141"/>
          <p:cNvSpPr/>
          <p:nvPr/>
        </p:nvSpPr>
        <p:spPr>
          <a:xfrm>
            <a:off x="6900863" y="3910013"/>
            <a:ext cx="1409700" cy="352425"/>
          </a:xfrm>
          <a:prstGeom prst="rect">
            <a:avLst/>
          </a:prstGeom>
          <a:noFill/>
          <a:ln/>
        </p:spPr>
      </p:sp>
      <p:sp>
        <p:nvSpPr>
          <p:cNvPr id="162" name="Text 142"/>
          <p:cNvSpPr/>
          <p:nvPr/>
        </p:nvSpPr>
        <p:spPr>
          <a:xfrm>
            <a:off x="6900863" y="3910013"/>
            <a:ext cx="1409700" cy="95250"/>
          </a:xfrm>
          <a:prstGeom prst="rect">
            <a:avLst/>
          </a:prstGeom>
          <a:noFill/>
          <a:ln/>
        </p:spPr>
        <p:txBody>
          <a:bodyPr wrap="square" lIns="0" tIns="0" rIns="0" bIns="0" rtlCol="0" anchor="ctr"/>
          <a:lstStyle/>
          <a:p>
            <a:pPr algn="l" indent="0" marL="0">
              <a:lnSpc>
                <a:spcPts val="713"/>
              </a:lnSpc>
              <a:buNone/>
            </a:pPr>
            <a:r>
              <a:rPr lang="en-US" sz="855" dirty="0">
                <a:solidFill>
                  <a:srgbClr val="1D1D1F">
                    <a:alpha val="99000"/>
                  </a:srgbClr>
                </a:solidFill>
                <a:latin typeface="Inter" pitchFamily="34" charset="0"/>
                <a:ea typeface="Inter" pitchFamily="34" charset="-122"/>
                <a:cs typeface="Inter" pitchFamily="34" charset="-120"/>
              </a:rPr>
              <a:t>Threadspan</a:t>
            </a:r>
            <a:endParaRPr lang="en-US" sz="855" dirty="0"/>
          </a:p>
        </p:txBody>
      </p:sp>
      <p:sp>
        <p:nvSpPr>
          <p:cNvPr id="163" name="Text 143"/>
          <p:cNvSpPr/>
          <p:nvPr/>
        </p:nvSpPr>
        <p:spPr>
          <a:xfrm>
            <a:off x="6900863" y="4052888"/>
            <a:ext cx="1409700" cy="209550"/>
          </a:xfrm>
          <a:prstGeom prst="rect">
            <a:avLst/>
          </a:prstGeom>
          <a:noFill/>
          <a:ln/>
        </p:spPr>
        <p:txBody>
          <a:bodyPr wrap="square" lIns="0" tIns="0" rIns="0" bIns="0" rtlCol="0" anchor="ctr"/>
          <a:lstStyle/>
          <a:p>
            <a:pPr algn="l" indent="0" marL="0">
              <a:lnSpc>
                <a:spcPts val="784"/>
              </a:lnSpc>
              <a:buNone/>
            </a:pPr>
            <a:r>
              <a:rPr lang="en-US" sz="641" dirty="0">
                <a:solidFill>
                  <a:srgbClr val="6A6A6B">
                    <a:alpha val="99000"/>
                  </a:srgbClr>
                </a:solidFill>
                <a:latin typeface="Inter" pitchFamily="34" charset="0"/>
                <a:ea typeface="Inter" pitchFamily="34" charset="-122"/>
                <a:cs typeface="Inter" pitchFamily="34" charset="-120"/>
              </a:rPr>
              <a:t>A real-time network monitoring platform.</a:t>
            </a:r>
            <a:endParaRPr lang="en-US" sz="641" dirty="0"/>
          </a:p>
        </p:txBody>
      </p:sp>
      <p:pic>
        <p:nvPicPr>
          <p:cNvPr id="164" name="Image 18" descr="preencoded.png">    </p:cNvPr>
          <p:cNvPicPr>
            <a:picLocks noChangeAspect="1"/>
          </p:cNvPicPr>
          <p:nvPr/>
        </p:nvPicPr>
        <p:blipFill>
          <a:blip r:embed="rId19"/>
          <a:srcRect l="0" r="0" t="0" b="0"/>
          <a:stretch/>
        </p:blipFill>
        <p:spPr>
          <a:xfrm>
            <a:off x="142875" y="976312"/>
            <a:ext cx="8858250" cy="1428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142875" y="381000"/>
            <a:ext cx="8858250" cy="0"/>
          </a:xfrm>
          <a:prstGeom prst="rect">
            <a:avLst/>
          </a:prstGeom>
          <a:noFill/>
          <a:ln/>
        </p:spPr>
      </p:sp>
      <p:sp>
        <p:nvSpPr>
          <p:cNvPr id="3" name="Shape 1"/>
          <p:cNvSpPr/>
          <p:nvPr/>
        </p:nvSpPr>
        <p:spPr>
          <a:xfrm>
            <a:off x="142875" y="381000"/>
            <a:ext cx="8858250" cy="352425"/>
          </a:xfrm>
          <a:prstGeom prst="rect">
            <a:avLst/>
          </a:prstGeom>
          <a:noFill/>
          <a:ln/>
        </p:spPr>
      </p:sp>
      <p:sp>
        <p:nvSpPr>
          <p:cNvPr id="4" name="Text 2"/>
          <p:cNvSpPr/>
          <p:nvPr/>
        </p:nvSpPr>
        <p:spPr>
          <a:xfrm>
            <a:off x="142875" y="523875"/>
            <a:ext cx="1543050"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6A6A6B">
                    <a:alpha val="99000"/>
                  </a:srgbClr>
                </a:solidFill>
                <a:latin typeface="Inter" pitchFamily="34" charset="0"/>
                <a:ea typeface="Inter" pitchFamily="34" charset="-122"/>
                <a:cs typeface="Inter" pitchFamily="34" charset="-120"/>
              </a:rPr>
              <a:t>7</a:t>
            </a:r>
            <a:endParaRPr lang="en-US" sz="2138" dirty="0"/>
          </a:p>
        </p:txBody>
      </p:sp>
      <p:sp>
        <p:nvSpPr>
          <p:cNvPr id="5" name="Text 3"/>
          <p:cNvSpPr/>
          <p:nvPr/>
        </p:nvSpPr>
        <p:spPr>
          <a:xfrm>
            <a:off x="1828800" y="523875"/>
            <a:ext cx="7170539" cy="209550"/>
          </a:xfrm>
          <a:prstGeom prst="rect">
            <a:avLst/>
          </a:prstGeom>
          <a:noFill/>
          <a:ln/>
        </p:spPr>
        <p:txBody>
          <a:bodyPr wrap="square" lIns="0" tIns="0" rIns="0" bIns="0" rtlCol="0" anchor="t"/>
          <a:lstStyle/>
          <a:p>
            <a:pPr algn="l" indent="0" marL="0">
              <a:lnSpc>
                <a:spcPts val="2138"/>
              </a:lnSpc>
              <a:buNone/>
            </a:pPr>
            <a:r>
              <a:rPr lang="en-US" sz="2138" spc="-107" kern="0" dirty="0">
                <a:solidFill>
                  <a:srgbClr val="ECE9E4">
                    <a:alpha val="99000"/>
                  </a:srgbClr>
                </a:solidFill>
                <a:latin typeface="Inter" pitchFamily="34" charset="0"/>
                <a:ea typeface="Inter" pitchFamily="34" charset="-122"/>
                <a:cs typeface="Inter" pitchFamily="34" charset="-120"/>
              </a:rPr>
              <a:t>WHY CLIENTS TRUST US</a:t>
            </a:r>
            <a:endParaRPr lang="en-US" sz="2138" dirty="0"/>
          </a:p>
        </p:txBody>
      </p:sp>
      <p:pic>
        <p:nvPicPr>
          <p:cNvPr id="6" name="Image 0" descr="preencoded.png">    </p:cNvPr>
          <p:cNvPicPr>
            <a:picLocks noChangeAspect="1"/>
          </p:cNvPicPr>
          <p:nvPr/>
        </p:nvPicPr>
        <p:blipFill>
          <a:blip r:embed="rId1"/>
          <a:srcRect l="0" r="0" t="0" b="0"/>
          <a:stretch/>
        </p:blipFill>
        <p:spPr>
          <a:xfrm>
            <a:off x="142875" y="0"/>
            <a:ext cx="8858250" cy="523875"/>
          </a:xfrm>
          <a:prstGeom prst="rect">
            <a:avLst/>
          </a:prstGeom>
        </p:spPr>
      </p:pic>
      <p:pic>
        <p:nvPicPr>
          <p:cNvPr id="7" name="Image 1" descr="preencoded.png">    </p:cNvPr>
          <p:cNvPicPr>
            <a:picLocks noChangeAspect="1"/>
          </p:cNvPicPr>
          <p:nvPr/>
        </p:nvPicPr>
        <p:blipFill>
          <a:blip r:embed="rId2"/>
          <a:srcRect l="0" r="0" t="0" b="0"/>
          <a:stretch/>
        </p:blipFill>
        <p:spPr>
          <a:xfrm>
            <a:off x="1828800" y="1343025"/>
            <a:ext cx="7172325" cy="2943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4E4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42875" y="0"/>
            <a:ext cx="8858250" cy="523875"/>
          </a:xfrm>
          <a:prstGeom prst="rect">
            <a:avLst/>
          </a:prstGeom>
        </p:spPr>
      </p:pic>
      <p:sp>
        <p:nvSpPr>
          <p:cNvPr id="3" name="Shape 0"/>
          <p:cNvSpPr/>
          <p:nvPr/>
        </p:nvSpPr>
        <p:spPr>
          <a:xfrm>
            <a:off x="0" y="523875"/>
            <a:ext cx="9144000" cy="3398007"/>
          </a:xfrm>
          <a:prstGeom prst="rect">
            <a:avLst/>
          </a:prstGeom>
          <a:noFill/>
          <a:ln/>
        </p:spPr>
      </p:sp>
      <p:sp>
        <p:nvSpPr>
          <p:cNvPr id="4" name="Shape 1"/>
          <p:cNvSpPr/>
          <p:nvPr/>
        </p:nvSpPr>
        <p:spPr>
          <a:xfrm>
            <a:off x="1828800" y="523875"/>
            <a:ext cx="7172325" cy="1731132"/>
          </a:xfrm>
          <a:prstGeom prst="rect">
            <a:avLst/>
          </a:prstGeom>
          <a:noFill/>
          <a:ln/>
        </p:spPr>
      </p:sp>
      <p:sp>
        <p:nvSpPr>
          <p:cNvPr id="5" name="Shape 2"/>
          <p:cNvSpPr/>
          <p:nvPr/>
        </p:nvSpPr>
        <p:spPr>
          <a:xfrm>
            <a:off x="1828800" y="523875"/>
            <a:ext cx="7172325" cy="959607"/>
          </a:xfrm>
          <a:prstGeom prst="rect">
            <a:avLst/>
          </a:prstGeom>
          <a:noFill/>
          <a:ln/>
        </p:spPr>
      </p:sp>
      <p:sp>
        <p:nvSpPr>
          <p:cNvPr id="6" name="Shape 3"/>
          <p:cNvSpPr/>
          <p:nvPr/>
        </p:nvSpPr>
        <p:spPr>
          <a:xfrm>
            <a:off x="1828800" y="523875"/>
            <a:ext cx="7172325" cy="752475"/>
          </a:xfrm>
          <a:prstGeom prst="rect">
            <a:avLst/>
          </a:prstGeom>
          <a:noFill/>
          <a:ln/>
        </p:spPr>
      </p:sp>
      <p:sp>
        <p:nvSpPr>
          <p:cNvPr id="7" name="Shape 4"/>
          <p:cNvSpPr/>
          <p:nvPr/>
        </p:nvSpPr>
        <p:spPr>
          <a:xfrm>
            <a:off x="1828800" y="523875"/>
            <a:ext cx="7172325" cy="752475"/>
          </a:xfrm>
          <a:prstGeom prst="rect">
            <a:avLst/>
          </a:prstGeom>
          <a:noFill/>
          <a:ln/>
        </p:spPr>
      </p:sp>
      <p:sp>
        <p:nvSpPr>
          <p:cNvPr id="8" name="Text 5"/>
          <p:cNvSpPr/>
          <p:nvPr/>
        </p:nvSpPr>
        <p:spPr>
          <a:xfrm>
            <a:off x="1828800" y="523875"/>
            <a:ext cx="7172325" cy="752475"/>
          </a:xfrm>
          <a:prstGeom prst="rect">
            <a:avLst/>
          </a:prstGeom>
          <a:noFill/>
          <a:ln/>
        </p:spPr>
        <p:txBody>
          <a:bodyPr wrap="square" lIns="0" tIns="0" rIns="0" bIns="0" rtlCol="0" anchor="t"/>
          <a:lstStyle/>
          <a:p>
            <a:pPr algn="l" indent="0" marL="0">
              <a:lnSpc>
                <a:spcPts val="3563"/>
              </a:lnSpc>
              <a:buNone/>
            </a:pPr>
            <a:r>
              <a:rPr lang="en-US" sz="2850" b="1" spc="-142" kern="0" dirty="0">
                <a:solidFill>
                  <a:srgbClr val="ECE9E4">
                    <a:alpha val="99000"/>
                  </a:srgbClr>
                </a:solidFill>
                <a:latin typeface="Inter" pitchFamily="34" charset="0"/>
                <a:ea typeface="Inter" pitchFamily="34" charset="-122"/>
                <a:cs typeface="Inter" pitchFamily="34" charset="-120"/>
              </a:rPr>
              <a:t>LET'S BUILD </a:t>
            </a:r>
            <a:endParaRPr lang="en-US" sz="2850" dirty="0"/>
          </a:p>
          <a:p>
            <a:pPr algn="l" indent="0" marL="0">
              <a:lnSpc>
                <a:spcPts val="3563"/>
              </a:lnSpc>
              <a:buNone/>
            </a:pPr>
            <a:r>
              <a:rPr lang="en-US" sz="2850" b="1" spc="-142" kern="0" dirty="0">
                <a:solidFill>
                  <a:srgbClr val="ECE9E4">
                    <a:alpha val="99000"/>
                  </a:srgbClr>
                </a:solidFill>
                <a:latin typeface="Inter" pitchFamily="34" charset="0"/>
                <a:ea typeface="Inter" pitchFamily="34" charset="-122"/>
                <a:cs typeface="Inter" pitchFamily="34" charset="-120"/>
              </a:rPr>
              <a:t>WHAT'S NEXT</a:t>
            </a:r>
            <a:endParaRPr lang="en-US" sz="2850" dirty="0"/>
          </a:p>
        </p:txBody>
      </p:sp>
      <p:sp>
        <p:nvSpPr>
          <p:cNvPr id="9" name="Shape 6"/>
          <p:cNvSpPr/>
          <p:nvPr/>
        </p:nvSpPr>
        <p:spPr>
          <a:xfrm>
            <a:off x="1828800" y="1390650"/>
            <a:ext cx="7172325" cy="92832"/>
          </a:xfrm>
          <a:prstGeom prst="rect">
            <a:avLst/>
          </a:prstGeom>
          <a:noFill/>
          <a:ln/>
        </p:spPr>
      </p:sp>
      <p:sp>
        <p:nvSpPr>
          <p:cNvPr id="10" name="Shape 7"/>
          <p:cNvSpPr/>
          <p:nvPr/>
        </p:nvSpPr>
        <p:spPr>
          <a:xfrm>
            <a:off x="1828800" y="1390650"/>
            <a:ext cx="7172325" cy="92832"/>
          </a:xfrm>
          <a:prstGeom prst="rect">
            <a:avLst/>
          </a:prstGeom>
          <a:noFill/>
          <a:ln/>
        </p:spPr>
      </p:sp>
      <p:sp>
        <p:nvSpPr>
          <p:cNvPr id="11" name="Text 8"/>
          <p:cNvSpPr/>
          <p:nvPr/>
        </p:nvSpPr>
        <p:spPr>
          <a:xfrm rot="5689">
            <a:off x="1828740" y="1390650"/>
            <a:ext cx="7172325" cy="80963"/>
          </a:xfrm>
          <a:prstGeom prst="rect">
            <a:avLst/>
          </a:prstGeom>
          <a:noFill/>
          <a:ln/>
        </p:spPr>
        <p:txBody>
          <a:bodyPr wrap="square" lIns="0" tIns="0" rIns="0" bIns="0" rtlCol="0" anchor="t"/>
          <a:lstStyle/>
          <a:p>
            <a:pPr algn="l" indent="0" marL="0">
              <a:lnSpc>
                <a:spcPts val="1069"/>
              </a:lnSpc>
              <a:buNone/>
            </a:pPr>
            <a:r>
              <a:rPr lang="en-US" sz="855" dirty="0">
                <a:solidFill>
                  <a:srgbClr val="ECE9E4">
                    <a:alpha val="99000"/>
                  </a:srgbClr>
                </a:solidFill>
                <a:latin typeface="Inter" pitchFamily="34" charset="0"/>
                <a:ea typeface="Inter" pitchFamily="34" charset="-122"/>
                <a:cs typeface="Inter" pitchFamily="34" charset="-120"/>
              </a:rPr>
              <a:t>Explore our work, sectors, and point of view at </a:t>
            </a:r>
            <a:pPr algn="l" indent="0" marL="0">
              <a:lnSpc>
                <a:spcPts val="1069"/>
              </a:lnSpc>
              <a:buNone/>
            </a:pPr>
            <a:r>
              <a:rPr lang="en-US" sz="855" u="sng" dirty="0">
                <a:solidFill>
                  <a:srgbClr val="ECE9E4">
                    <a:alpha val="99000"/>
                  </a:srgbClr>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www.bombaydc.com</a:t>
            </a:r>
            <a:endParaRPr lang="en-US" sz="855" dirty="0"/>
          </a:p>
        </p:txBody>
      </p:sp>
      <p:sp>
        <p:nvSpPr>
          <p:cNvPr id="12" name="Shape 9"/>
          <p:cNvSpPr/>
          <p:nvPr/>
        </p:nvSpPr>
        <p:spPr>
          <a:xfrm>
            <a:off x="1828800" y="2255007"/>
            <a:ext cx="7172325" cy="0"/>
          </a:xfrm>
          <a:prstGeom prst="line">
            <a:avLst/>
          </a:prstGeom>
          <a:noFill/>
          <a:ln w="4524">
            <a:solidFill>
              <a:srgbClr val="ECE9E4"/>
            </a:solidFill>
            <a:prstDash val="solid"/>
          </a:ln>
        </p:spPr>
      </p:sp>
      <p:sp>
        <p:nvSpPr>
          <p:cNvPr id="13" name="Shape 10"/>
          <p:cNvSpPr/>
          <p:nvPr/>
        </p:nvSpPr>
        <p:spPr>
          <a:xfrm>
            <a:off x="1828800" y="2397882"/>
            <a:ext cx="3376613" cy="1524000"/>
          </a:xfrm>
          <a:prstGeom prst="rect">
            <a:avLst/>
          </a:prstGeom>
          <a:solidFill>
            <a:srgbClr val="000000">
              <a:alpha val="0"/>
            </a:srgbClr>
          </a:solidFill>
          <a:ln/>
        </p:spPr>
      </p:sp>
      <p:pic>
        <p:nvPicPr>
          <p:cNvPr id="14" name="Image 1" descr="preencoded.png">    </p:cNvPr>
          <p:cNvPicPr>
            <a:picLocks noChangeAspect="1"/>
          </p:cNvPicPr>
          <p:nvPr/>
        </p:nvPicPr>
        <p:blipFill>
          <a:blip r:embed="rId3"/>
          <a:srcRect l="0" r="0" t="0" b="0"/>
          <a:stretch/>
        </p:blipFill>
        <p:spPr>
          <a:xfrm>
            <a:off x="2114550" y="2683632"/>
            <a:ext cx="952500" cy="952500"/>
          </a:xfrm>
          <a:prstGeom prst="rect">
            <a:avLst/>
          </a:prstGeom>
        </p:spPr>
      </p:pic>
      <p:sp>
        <p:nvSpPr>
          <p:cNvPr id="15" name="Shape 11"/>
          <p:cNvSpPr/>
          <p:nvPr/>
        </p:nvSpPr>
        <p:spPr>
          <a:xfrm>
            <a:off x="3219450" y="2683632"/>
            <a:ext cx="1700213" cy="852488"/>
          </a:xfrm>
          <a:prstGeom prst="rect">
            <a:avLst/>
          </a:prstGeom>
          <a:noFill/>
          <a:ln/>
        </p:spPr>
      </p:sp>
      <p:sp>
        <p:nvSpPr>
          <p:cNvPr id="16" name="Shape 12"/>
          <p:cNvSpPr/>
          <p:nvPr/>
        </p:nvSpPr>
        <p:spPr>
          <a:xfrm>
            <a:off x="3219450" y="2683632"/>
            <a:ext cx="1700213" cy="404813"/>
          </a:xfrm>
          <a:prstGeom prst="rect">
            <a:avLst/>
          </a:prstGeom>
          <a:noFill/>
          <a:ln/>
        </p:spPr>
      </p:sp>
      <p:sp>
        <p:nvSpPr>
          <p:cNvPr id="17" name="Text 13"/>
          <p:cNvSpPr/>
          <p:nvPr/>
        </p:nvSpPr>
        <p:spPr>
          <a:xfrm>
            <a:off x="3219450" y="2683632"/>
            <a:ext cx="1700213" cy="228600"/>
          </a:xfrm>
          <a:prstGeom prst="rect">
            <a:avLst/>
          </a:prstGeom>
          <a:noFill/>
          <a:ln/>
        </p:spPr>
        <p:txBody>
          <a:bodyPr wrap="square" lIns="0" tIns="0" rIns="0" bIns="0" rtlCol="0" anchor="t"/>
          <a:lstStyle/>
          <a:p>
            <a:pPr algn="l" indent="0" marL="0">
              <a:lnSpc>
                <a:spcPts val="1725"/>
              </a:lnSpc>
              <a:buNone/>
            </a:pPr>
            <a:r>
              <a:rPr lang="en-US" sz="1425" spc="-71" kern="0" dirty="0">
                <a:solidFill>
                  <a:srgbClr val="FFFFFF">
                    <a:alpha val="99000"/>
                  </a:srgbClr>
                </a:solidFill>
                <a:latin typeface="Inter" pitchFamily="34" charset="0"/>
                <a:ea typeface="Inter" pitchFamily="34" charset="-122"/>
                <a:cs typeface="Inter" pitchFamily="34" charset="-120"/>
              </a:rPr>
              <a:t>Siddesh Pednekar</a:t>
            </a:r>
            <a:endParaRPr lang="en-US" sz="1425" dirty="0"/>
          </a:p>
        </p:txBody>
      </p:sp>
      <p:sp>
        <p:nvSpPr>
          <p:cNvPr id="18" name="Text 14"/>
          <p:cNvSpPr/>
          <p:nvPr/>
        </p:nvSpPr>
        <p:spPr>
          <a:xfrm>
            <a:off x="3219450" y="2950332"/>
            <a:ext cx="1700213" cy="138113"/>
          </a:xfrm>
          <a:prstGeom prst="rect">
            <a:avLst/>
          </a:prstGeom>
          <a:noFill/>
          <a:ln/>
        </p:spPr>
        <p:txBody>
          <a:bodyPr wrap="square" lIns="0" tIns="0" rIns="0" bIns="0" rtlCol="0" anchor="t"/>
          <a:lstStyle/>
          <a:p>
            <a:pPr algn="l" indent="0" marL="0">
              <a:lnSpc>
                <a:spcPts val="1035"/>
              </a:lnSpc>
              <a:buNone/>
            </a:pPr>
            <a:r>
              <a:rPr lang="en-US" sz="855" spc="-43" kern="0" dirty="0">
                <a:solidFill>
                  <a:srgbClr val="FFFFFF">
                    <a:alpha val="99000"/>
                  </a:srgbClr>
                </a:solidFill>
                <a:latin typeface="Inter" pitchFamily="34" charset="0"/>
                <a:ea typeface="Inter" pitchFamily="34" charset="-122"/>
                <a:cs typeface="Inter" pitchFamily="34" charset="-120"/>
              </a:rPr>
              <a:t>Partner &amp; COO</a:t>
            </a:r>
            <a:endParaRPr lang="en-US" sz="855" dirty="0"/>
          </a:p>
        </p:txBody>
      </p:sp>
      <p:sp>
        <p:nvSpPr>
          <p:cNvPr id="19" name="Shape 15"/>
          <p:cNvSpPr/>
          <p:nvPr/>
        </p:nvSpPr>
        <p:spPr>
          <a:xfrm>
            <a:off x="3219450" y="3240845"/>
            <a:ext cx="1700213" cy="295275"/>
          </a:xfrm>
          <a:prstGeom prst="rect">
            <a:avLst/>
          </a:prstGeom>
          <a:noFill/>
          <a:ln/>
        </p:spPr>
      </p:sp>
      <p:sp>
        <p:nvSpPr>
          <p:cNvPr id="20" name="Text 16"/>
          <p:cNvSpPr/>
          <p:nvPr/>
        </p:nvSpPr>
        <p:spPr>
          <a:xfrm>
            <a:off x="3219450" y="3240845"/>
            <a:ext cx="904875" cy="114300"/>
          </a:xfrm>
          <a:prstGeom prst="rect">
            <a:avLst/>
          </a:prstGeom>
          <a:noFill/>
          <a:ln/>
        </p:spPr>
        <p:txBody>
          <a:bodyPr wrap="square" lIns="0" tIns="0" rIns="0" bIns="0" rtlCol="0" anchor="t"/>
          <a:lstStyle/>
          <a:p>
            <a:pPr algn="l" indent="0" marL="0">
              <a:lnSpc>
                <a:spcPts val="862"/>
              </a:lnSpc>
              <a:buNone/>
            </a:pPr>
            <a:r>
              <a:rPr lang="en-US" sz="713" dirty="0">
                <a:solidFill>
                  <a:srgbClr val="FFFFFF">
                    <a:alpha val="99000"/>
                  </a:srgbClr>
                </a:solidFill>
                <a:latin typeface="Inter" pitchFamily="34" charset="0"/>
                <a:ea typeface="Inter" pitchFamily="34" charset="-122"/>
                <a:cs typeface="Inter" pitchFamily="34" charset="-120"/>
              </a:rPr>
              <a:t>sid@bombaydc.com</a:t>
            </a:r>
            <a:endParaRPr lang="en-US" sz="713" dirty="0"/>
          </a:p>
        </p:txBody>
      </p:sp>
      <p:sp>
        <p:nvSpPr>
          <p:cNvPr id="21" name="Text 17"/>
          <p:cNvSpPr/>
          <p:nvPr/>
        </p:nvSpPr>
        <p:spPr>
          <a:xfrm>
            <a:off x="3219450" y="3421820"/>
            <a:ext cx="552450" cy="114300"/>
          </a:xfrm>
          <a:prstGeom prst="rect">
            <a:avLst/>
          </a:prstGeom>
          <a:noFill/>
          <a:ln/>
        </p:spPr>
        <p:txBody>
          <a:bodyPr wrap="square" lIns="0" tIns="0" rIns="0" bIns="0" rtlCol="0" anchor="t"/>
          <a:lstStyle/>
          <a:p>
            <a:pPr algn="l" indent="0" marL="0">
              <a:lnSpc>
                <a:spcPts val="862"/>
              </a:lnSpc>
              <a:buNone/>
            </a:pPr>
            <a:r>
              <a:rPr lang="en-US" sz="713" dirty="0">
                <a:solidFill>
                  <a:srgbClr val="FFFFFF">
                    <a:alpha val="99000"/>
                  </a:srgbClr>
                </a:solidFill>
                <a:latin typeface="Inter" pitchFamily="34" charset="0"/>
                <a:ea typeface="Inter" pitchFamily="34" charset="-122"/>
                <a:cs typeface="Inter" pitchFamily="34" charset="-120"/>
              </a:rPr>
              <a:t>9819981354</a:t>
            </a:r>
            <a:endParaRPr lang="en-US" sz="713" dirty="0"/>
          </a:p>
        </p:txBody>
      </p:sp>
      <p:sp>
        <p:nvSpPr>
          <p:cNvPr id="22" name="Text 18"/>
          <p:cNvSpPr/>
          <p:nvPr/>
        </p:nvSpPr>
        <p:spPr>
          <a:xfrm>
            <a:off x="1828800" y="4524375"/>
            <a:ext cx="1962150" cy="323850"/>
          </a:xfrm>
          <a:prstGeom prst="rect">
            <a:avLst/>
          </a:prstGeom>
          <a:noFill/>
          <a:ln/>
        </p:spPr>
        <p:txBody>
          <a:bodyPr wrap="square" lIns="0" tIns="0" rIns="0" bIns="0" rtlCol="0" anchor="t"/>
          <a:lstStyle/>
          <a:p>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CONFIDENTIAL AND PROPRIETARY</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 | © </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BombayDC. </a:t>
            </a:r>
            <a:endParaRPr lang="en-US" sz="427" dirty="0"/>
          </a:p>
          <a:p>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This material is intended solely for your internal use and any use of this material without specific permission of </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BombayDC</a:t>
            </a:r>
            <a:pPr algn="l" indent="0" marL="0">
              <a:lnSpc>
                <a:spcPts val="606"/>
              </a:lnSpc>
              <a:buNone/>
            </a:pPr>
            <a:r>
              <a:rPr lang="en-US" sz="427" dirty="0">
                <a:solidFill>
                  <a:srgbClr val="FFFFFF">
                    <a:alpha val="99000"/>
                  </a:srgbClr>
                </a:solidFill>
                <a:latin typeface="Inter" pitchFamily="34" charset="0"/>
                <a:ea typeface="Inter" pitchFamily="34" charset="-122"/>
                <a:cs typeface="Inter" pitchFamily="34" charset="-120"/>
              </a:rPr>
              <a:t> is strictly prohibited. All rights reserved.</a:t>
            </a:r>
            <a:endParaRPr lang="en-US" sz="4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2026-07-16T10:42:54Z</dcterms:created>
  <dcterms:modified xsi:type="dcterms:W3CDTF">2026-07-16T10:42:54Z</dcterms:modified>
</cp:coreProperties>
</file>